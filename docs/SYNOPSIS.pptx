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6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0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3.xml" ContentType="application/vnd.openxmlformats-officedocument.presentationml.slide+xml"/>
  <Override PartName="/ppt/theme/theme2.xml" ContentType="application/vnd.openxmlformats-officedocument.theme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ppt/slideLayouts/slideLayout6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5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3.xml" ContentType="application/vnd.openxmlformats-officedocument.presentationml.notesSlide+xml"/>
  <Override PartName="/ppt/slideLayouts/slideLayout7.xml" ContentType="application/vnd.openxmlformats-officedocument.presentationml.slideLayout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4.xml" ContentType="application/vnd.openxmlformats-officedocument.presentationml.slide+xml"/>
  <Override PartName="/ppt/notesSlides/notesSlide6.xml" ContentType="application/vnd.openxmlformats-officedocument.presentationml.notesSlide+xml"/>
  <Override PartName="/ppt/presentation.xml" ContentType="application/vnd.openxmlformats-officedocument.presentationml.presentation.main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20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2191695" cy="6858000" type="screen4x3"/>
  <p:notesSz cx="6858000" cy="9144000"/>
  <p:defaultTextStyle>
    <a:defPPr>
      <a:defRPr lang="en-US"/>
    </a:defPPr>
    <a:lvl1pPr marL="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 /><Relationship Id="rId22" Type="http://schemas.openxmlformats.org/officeDocument/2006/relationships/tableStyles" Target="tableStyles.xml" /><Relationship Id="rId2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619F12-9591-5033-D7D7-36C51D0D4C0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830D01E-36B9-D255-DB62-F74C26CCA0E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70ED79D-27A8-0392-A709-16A27C8E6F3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214DF96-F22D-A58A-67BC-CF80491E08B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957697E-8285-D288-7776-48EE1ADD807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4E903EC-01B0-E471-1501-2A416B236D3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404B36-FE22-0049-C78A-D6DE5D1FD05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01168D7-5EFB-1868-8CAC-BE926585A94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741066F-0EA2-F64A-EC43-03890AC601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40FF11-F6F8-7810-F538-B0DA4DA671F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ECA7718-70D2-EE6D-AF4E-2287D435DD9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CBA4444-6316-CA81-D84D-5DF7FD6F065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982173-0602-2F83-6082-41F2D5AA96A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EC7A294-A6AA-F3C0-BB07-DD8942C12E8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5C03A65-36F0-D83C-9861-D0E70935FF0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B4368AA-CB3A-12D1-46BF-F3356F799B8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7035129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05838090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93421260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76137002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7908184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54093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73641019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4705103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212724087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0409502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6844703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6303647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0308355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70308165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2225052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643320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2424474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56780355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12457733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7978669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4441917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410276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9560031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8319603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53140157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18774718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37506945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931445801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83656754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330626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36350784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92226391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96113094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4500692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296446850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07224912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2254880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53814711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10742591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33994904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98777443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0901643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3724574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93283994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1747706451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532205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61538154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6614650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583154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18206588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1892273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88467917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9669342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2136211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04869068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0570610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02431469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2333134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024031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8821235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57964375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58451733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92600858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7997512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0F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13218275" name="Rectangle 2"/>
          <p:cNvSpPr/>
          <p:nvPr/>
        </p:nvSpPr>
        <p:spPr bwMode="auto">
          <a:xfrm>
            <a:off x="0" y="4160519"/>
            <a:ext cx="12191695" cy="73152"/>
          </a:xfrm>
          <a:prstGeom prst="rect">
            <a:avLst/>
          </a:prstGeom>
          <a:solidFill>
            <a:srgbClr val="7B3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15923972" name="TextBox 3"/>
          <p:cNvSpPr txBox="1"/>
          <p:nvPr/>
        </p:nvSpPr>
        <p:spPr bwMode="auto">
          <a:xfrm>
            <a:off x="731520" y="1463040"/>
            <a:ext cx="10698480" cy="1828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/>
            </a:pPr>
            <a:r>
              <a:rPr sz="4000" b="1">
                <a:solidFill>
                  <a:srgbClr val="FFFFFF"/>
                </a:solidFill>
                <a:latin typeface="Calibri"/>
              </a:rPr>
              <a:t>Blockchain-Based Academic Credentials Verification System</a:t>
            </a:r>
            <a:endParaRPr/>
          </a:p>
        </p:txBody>
      </p:sp>
      <p:sp>
        <p:nvSpPr>
          <p:cNvPr id="1618621213" name="TextBox 4"/>
          <p:cNvSpPr txBox="1"/>
          <p:nvPr/>
        </p:nvSpPr>
        <p:spPr bwMode="auto">
          <a:xfrm>
            <a:off x="731520" y="3200400"/>
            <a:ext cx="1069848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/>
            </a:pPr>
            <a:r>
              <a:rPr sz="2200" b="0">
                <a:solidFill>
                  <a:srgbClr val="C9B8F5"/>
                </a:solidFill>
                <a:latin typeface="Calibri"/>
              </a:rPr>
              <a:t>Tamper-evident degree certificates anchored on Polygon Amoy</a:t>
            </a:r>
            <a:endParaRPr/>
          </a:p>
        </p:txBody>
      </p:sp>
      <p:sp>
        <p:nvSpPr>
          <p:cNvPr id="1312045212" name="TextBox 5"/>
          <p:cNvSpPr txBox="1"/>
          <p:nvPr/>
        </p:nvSpPr>
        <p:spPr bwMode="auto">
          <a:xfrm>
            <a:off x="731520" y="4480560"/>
            <a:ext cx="106984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/>
            </a:pPr>
            <a:r>
              <a:rPr sz="1800" b="0">
                <a:solidFill>
                  <a:srgbClr val="FFFFFF"/>
                </a:solidFill>
                <a:latin typeface="Calibri"/>
              </a:rPr>
              <a:t>Project Synopsis  ·  BCA Final Year</a:t>
            </a:r>
            <a:endParaRPr/>
          </a:p>
        </p:txBody>
      </p:sp>
      <p:sp>
        <p:nvSpPr>
          <p:cNvPr id="1115169245" name="TextBox 6"/>
          <p:cNvSpPr txBox="1"/>
          <p:nvPr/>
        </p:nvSpPr>
        <p:spPr bwMode="auto">
          <a:xfrm>
            <a:off x="731520" y="5029199"/>
            <a:ext cx="10733039" cy="30515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/>
            </a:pPr>
            <a:r>
              <a:rPr sz="1400" b="0">
                <a:solidFill>
                  <a:srgbClr val="B0B8C8"/>
                </a:solidFill>
                <a:latin typeface="Calibri"/>
              </a:rPr>
              <a:t>Submitted by: Utkarsh Kumar Singh (</a:t>
            </a:r>
            <a:r>
              <a:rPr lang="en-US" sz="1400" b="0" i="0" u="none" strike="noStrike" cap="none" spc="0">
                <a:solidFill>
                  <a:srgbClr val="B0B8C8"/>
                </a:solidFill>
                <a:latin typeface="Calibri"/>
                <a:ea typeface="Calibri"/>
                <a:cs typeface="Calibri"/>
              </a:rPr>
              <a:t>24215142</a:t>
            </a:r>
            <a:r>
              <a:rPr sz="1400" b="0">
                <a:solidFill>
                  <a:srgbClr val="B0B8C8"/>
                </a:solidFill>
                <a:latin typeface="Calibri"/>
              </a:rPr>
              <a:t>), Samarth Kakkar(24215136), Yash Sharma(24215144)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1868828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68570068" name="Rectangle 2"/>
          <p:cNvSpPr/>
          <p:nvPr/>
        </p:nvSpPr>
        <p:spPr bwMode="auto">
          <a:xfrm>
            <a:off x="0" y="0"/>
            <a:ext cx="12191695" cy="1005840"/>
          </a:xfrm>
          <a:prstGeom prst="rect">
            <a:avLst/>
          </a:prstGeom>
          <a:solidFill>
            <a:srgbClr val="0F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39700578" name="Rectangle 3"/>
          <p:cNvSpPr/>
          <p:nvPr/>
        </p:nvSpPr>
        <p:spPr bwMode="auto">
          <a:xfrm>
            <a:off x="0" y="1005840"/>
            <a:ext cx="12191695" cy="54864"/>
          </a:xfrm>
          <a:prstGeom prst="rect">
            <a:avLst/>
          </a:prstGeom>
          <a:solidFill>
            <a:srgbClr val="7B3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42288342" name="TextBox 4"/>
          <p:cNvSpPr txBox="1"/>
          <p:nvPr/>
        </p:nvSpPr>
        <p:spPr bwMode="auto">
          <a:xfrm>
            <a:off x="457200" y="0"/>
            <a:ext cx="10972800" cy="10058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defRPr/>
            </a:pPr>
            <a:r>
              <a:rPr sz="3000" b="1">
                <a:solidFill>
                  <a:srgbClr val="FFFFFF"/>
                </a:solidFill>
                <a:latin typeface="Calibri"/>
              </a:rPr>
              <a:t>The Problem</a:t>
            </a:r>
            <a:endParaRPr/>
          </a:p>
        </p:txBody>
      </p:sp>
      <p:sp>
        <p:nvSpPr>
          <p:cNvPr id="1464208129" name="Rectangle 5"/>
          <p:cNvSpPr/>
          <p:nvPr/>
        </p:nvSpPr>
        <p:spPr bwMode="auto">
          <a:xfrm>
            <a:off x="0" y="6537960"/>
            <a:ext cx="12191695" cy="320040"/>
          </a:xfrm>
          <a:prstGeom prst="rect">
            <a:avLst/>
          </a:prstGeom>
          <a:solidFill>
            <a:srgbClr val="0F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1361160" name="TextBox 6"/>
          <p:cNvSpPr txBox="1"/>
          <p:nvPr/>
        </p:nvSpPr>
        <p:spPr bwMode="auto">
          <a:xfrm>
            <a:off x="365760" y="6537960"/>
            <a:ext cx="822960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defRPr/>
            </a:pPr>
            <a:r>
              <a:rPr sz="1100" b="0">
                <a:solidFill>
                  <a:srgbClr val="FFFFFF"/>
                </a:solidFill>
                <a:latin typeface="Calibri"/>
              </a:rPr>
              <a:t>Blockchain-Based Academic Credentials Verification System</a:t>
            </a:r>
            <a:endParaRPr/>
          </a:p>
        </p:txBody>
      </p:sp>
      <p:sp>
        <p:nvSpPr>
          <p:cNvPr id="2011598062" name="TextBox 7"/>
          <p:cNvSpPr txBox="1"/>
          <p:nvPr/>
        </p:nvSpPr>
        <p:spPr bwMode="auto">
          <a:xfrm>
            <a:off x="10911535" y="6537960"/>
            <a:ext cx="91440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defRPr/>
            </a:pPr>
            <a:r>
              <a:rPr sz="1100" b="0">
                <a:solidFill>
                  <a:srgbClr val="FFFFFF"/>
                </a:solidFill>
                <a:latin typeface="Calibri"/>
              </a:rPr>
              <a:t>2</a:t>
            </a:r>
            <a:endParaRPr/>
          </a:p>
        </p:txBody>
      </p:sp>
      <p:sp>
        <p:nvSpPr>
          <p:cNvPr id="802120102" name="TextBox 8"/>
          <p:cNvSpPr txBox="1"/>
          <p:nvPr/>
        </p:nvSpPr>
        <p:spPr bwMode="auto">
          <a:xfrm>
            <a:off x="548640" y="1371600"/>
            <a:ext cx="6583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/>
            </a:pPr>
            <a:r>
              <a:rPr sz="1900">
                <a:solidFill>
                  <a:srgbClr val="0F1F3D"/>
                </a:solidFill>
                <a:latin typeface="Calibri"/>
              </a:rPr>
              <a:t>•  Degree certificates are among the most forged documents worldwide</a:t>
            </a:r>
            <a:endParaRPr/>
          </a:p>
          <a:p>
            <a:pPr>
              <a:spcAft>
                <a:spcPts val="600"/>
              </a:spcAft>
              <a:defRPr/>
            </a:pPr>
            <a:r>
              <a:rPr sz="1900">
                <a:solidFill>
                  <a:srgbClr val="0F1F3D"/>
                </a:solidFill>
                <a:latin typeface="Calibri"/>
              </a:rPr>
              <a:t>•  Manual verification: write to the university, wait days or weeks</a:t>
            </a:r>
            <a:endParaRPr/>
          </a:p>
          <a:p>
            <a:pPr>
              <a:spcAft>
                <a:spcPts val="600"/>
              </a:spcAft>
              <a:defRPr/>
            </a:pPr>
            <a:r>
              <a:rPr sz="1900">
                <a:solidFill>
                  <a:srgbClr val="0F1F3D"/>
                </a:solidFill>
                <a:latin typeface="Calibri"/>
              </a:rPr>
              <a:t>•  Many employers skip verification entirely because of the cost</a:t>
            </a:r>
            <a:endParaRPr/>
          </a:p>
          <a:p>
            <a:pPr>
              <a:spcAft>
                <a:spcPts val="600"/>
              </a:spcAft>
              <a:defRPr/>
            </a:pPr>
            <a:r>
              <a:rPr sz="1900">
                <a:solidFill>
                  <a:srgbClr val="0F1F3D"/>
                </a:solidFill>
                <a:latin typeface="Calibri"/>
              </a:rPr>
              <a:t>•  Centralised registries can be edited by whoever runs the database — no evidence trail</a:t>
            </a:r>
            <a:endParaRPr/>
          </a:p>
          <a:p>
            <a:pPr>
              <a:spcAft>
                <a:spcPts val="600"/>
              </a:spcAft>
              <a:defRPr/>
            </a:pPr>
            <a:r>
              <a:rPr sz="1900">
                <a:solidFill>
                  <a:srgbClr val="0F1F3D"/>
                </a:solidFill>
                <a:latin typeface="Calibri"/>
              </a:rPr>
              <a:t>•  Revocations (e.g. after academic-integrity findings) never reach people already holding a copy</a:t>
            </a:r>
            <a:endParaRPr/>
          </a:p>
        </p:txBody>
      </p:sp>
      <p:sp>
        <p:nvSpPr>
          <p:cNvPr id="1124941886" name="Rounded Rectangle 9"/>
          <p:cNvSpPr/>
          <p:nvPr/>
        </p:nvSpPr>
        <p:spPr bwMode="auto">
          <a:xfrm>
            <a:off x="7589520" y="1554480"/>
            <a:ext cx="4023360" cy="4023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99399004" name="TextBox 10"/>
          <p:cNvSpPr txBox="1"/>
          <p:nvPr/>
        </p:nvSpPr>
        <p:spPr bwMode="auto">
          <a:xfrm>
            <a:off x="7772400" y="1737360"/>
            <a:ext cx="36576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/>
            </a:pPr>
            <a:r>
              <a:rPr sz="1800" b="1">
                <a:solidFill>
                  <a:srgbClr val="7B3FE4"/>
                </a:solidFill>
                <a:latin typeface="Calibri"/>
              </a:rPr>
              <a:t>What a verifier needs</a:t>
            </a:r>
            <a:endParaRPr/>
          </a:p>
        </p:txBody>
      </p:sp>
      <p:sp>
        <p:nvSpPr>
          <p:cNvPr id="477328258" name="TextBox 11"/>
          <p:cNvSpPr txBox="1"/>
          <p:nvPr/>
        </p:nvSpPr>
        <p:spPr bwMode="auto">
          <a:xfrm>
            <a:off x="7772400" y="2286000"/>
            <a:ext cx="3657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/>
            </a:pPr>
            <a:r>
              <a:rPr sz="1600">
                <a:solidFill>
                  <a:srgbClr val="555F70"/>
                </a:solidFill>
                <a:latin typeface="Calibri"/>
              </a:rPr>
              <a:t>•  Is this certificate genuine?</a:t>
            </a:r>
            <a:endParaRPr/>
          </a:p>
          <a:p>
            <a:pPr>
              <a:spcAft>
                <a:spcPts val="600"/>
              </a:spcAft>
              <a:defRPr/>
            </a:pPr>
            <a:r>
              <a:rPr sz="1600">
                <a:solidFill>
                  <a:srgbClr val="555F70"/>
                </a:solidFill>
                <a:latin typeface="Calibri"/>
              </a:rPr>
              <a:t>•  Has it been altered since issue?</a:t>
            </a:r>
            <a:endParaRPr/>
          </a:p>
          <a:p>
            <a:pPr>
              <a:spcAft>
                <a:spcPts val="600"/>
              </a:spcAft>
              <a:defRPr/>
            </a:pPr>
            <a:r>
              <a:rPr sz="1600">
                <a:solidFill>
                  <a:srgbClr val="555F70"/>
                </a:solidFill>
                <a:latin typeface="Calibri"/>
              </a:rPr>
              <a:t>•  Has it been revoked?</a:t>
            </a:r>
            <a:endParaRPr/>
          </a:p>
          <a:p>
            <a:pPr>
              <a:spcAft>
                <a:spcPts val="600"/>
              </a:spcAft>
              <a:defRPr/>
            </a:pPr>
            <a:r>
              <a:rPr sz="1600">
                <a:solidFill>
                  <a:srgbClr val="555F70"/>
                </a:solidFill>
                <a:latin typeface="Calibri"/>
              </a:rPr>
              <a:t>•  …and an answer in seconds, not weeks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9433756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04550253" name="Rectangle 2"/>
          <p:cNvSpPr/>
          <p:nvPr/>
        </p:nvSpPr>
        <p:spPr bwMode="auto">
          <a:xfrm>
            <a:off x="0" y="0"/>
            <a:ext cx="12191695" cy="1005840"/>
          </a:xfrm>
          <a:prstGeom prst="rect">
            <a:avLst/>
          </a:prstGeom>
          <a:solidFill>
            <a:srgbClr val="0F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1073256" name="Rectangle 3"/>
          <p:cNvSpPr/>
          <p:nvPr/>
        </p:nvSpPr>
        <p:spPr bwMode="auto">
          <a:xfrm>
            <a:off x="0" y="1005840"/>
            <a:ext cx="12191695" cy="54864"/>
          </a:xfrm>
          <a:prstGeom prst="rect">
            <a:avLst/>
          </a:prstGeom>
          <a:solidFill>
            <a:srgbClr val="7B3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94045253" name="TextBox 4"/>
          <p:cNvSpPr txBox="1"/>
          <p:nvPr/>
        </p:nvSpPr>
        <p:spPr bwMode="auto">
          <a:xfrm>
            <a:off x="457200" y="0"/>
            <a:ext cx="10972800" cy="10058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defRPr/>
            </a:pPr>
            <a:r>
              <a:rPr sz="3000" b="1">
                <a:solidFill>
                  <a:srgbClr val="FFFFFF"/>
                </a:solidFill>
                <a:latin typeface="Calibri"/>
              </a:rPr>
              <a:t>Objectives</a:t>
            </a:r>
            <a:endParaRPr/>
          </a:p>
        </p:txBody>
      </p:sp>
      <p:sp>
        <p:nvSpPr>
          <p:cNvPr id="313440921" name="Rectangle 5"/>
          <p:cNvSpPr/>
          <p:nvPr/>
        </p:nvSpPr>
        <p:spPr bwMode="auto">
          <a:xfrm>
            <a:off x="0" y="6537960"/>
            <a:ext cx="12191695" cy="320040"/>
          </a:xfrm>
          <a:prstGeom prst="rect">
            <a:avLst/>
          </a:prstGeom>
          <a:solidFill>
            <a:srgbClr val="0F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29147519" name="TextBox 6"/>
          <p:cNvSpPr txBox="1"/>
          <p:nvPr/>
        </p:nvSpPr>
        <p:spPr bwMode="auto">
          <a:xfrm>
            <a:off x="365760" y="6537960"/>
            <a:ext cx="822960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defRPr/>
            </a:pPr>
            <a:r>
              <a:rPr sz="1100" b="0">
                <a:solidFill>
                  <a:srgbClr val="FFFFFF"/>
                </a:solidFill>
                <a:latin typeface="Calibri"/>
              </a:rPr>
              <a:t>Blockchain-Based Academic Credentials Verification System</a:t>
            </a:r>
            <a:endParaRPr/>
          </a:p>
        </p:txBody>
      </p:sp>
      <p:sp>
        <p:nvSpPr>
          <p:cNvPr id="1198782259" name="TextBox 7"/>
          <p:cNvSpPr txBox="1"/>
          <p:nvPr/>
        </p:nvSpPr>
        <p:spPr bwMode="auto">
          <a:xfrm>
            <a:off x="10911535" y="6537960"/>
            <a:ext cx="91440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defRPr/>
            </a:pPr>
            <a:r>
              <a:rPr sz="1100" b="0">
                <a:solidFill>
                  <a:srgbClr val="FFFFFF"/>
                </a:solidFill>
                <a:latin typeface="Calibri"/>
              </a:rPr>
              <a:t>3</a:t>
            </a:r>
            <a:endParaRPr/>
          </a:p>
        </p:txBody>
      </p:sp>
      <p:sp>
        <p:nvSpPr>
          <p:cNvPr id="1038110053" name="TextBox 8"/>
          <p:cNvSpPr txBox="1"/>
          <p:nvPr/>
        </p:nvSpPr>
        <p:spPr bwMode="auto">
          <a:xfrm>
            <a:off x="548640" y="13716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/>
            </a:pPr>
            <a:r>
              <a:rPr sz="1900">
                <a:solidFill>
                  <a:srgbClr val="0F1F3D"/>
                </a:solidFill>
                <a:latin typeface="Calibri"/>
              </a:rPr>
              <a:t>•  Let authorised university staff issue digital credentials through a secure web interface</a:t>
            </a:r>
            <a:endParaRPr/>
          </a:p>
          <a:p>
            <a:pPr>
              <a:spcAft>
                <a:spcPts val="1000"/>
              </a:spcAft>
              <a:defRPr/>
            </a:pPr>
            <a:r>
              <a:rPr sz="1900">
                <a:solidFill>
                  <a:srgbClr val="0F1F3D"/>
                </a:solidFill>
                <a:latin typeface="Calibri"/>
              </a:rPr>
              <a:t>•  Anchor a cryptographic hash of every credential on a public blockchain smart contract</a:t>
            </a:r>
            <a:endParaRPr/>
          </a:p>
          <a:p>
            <a:pPr>
              <a:spcAft>
                <a:spcPts val="1000"/>
              </a:spcAft>
              <a:defRPr/>
            </a:pPr>
            <a:r>
              <a:rPr sz="1900">
                <a:solidFill>
                  <a:srgbClr val="0F1F3D"/>
                </a:solidFill>
                <a:latin typeface="Calibri"/>
              </a:rPr>
              <a:t>•  Public verification portal: credential ID or QR code → VALID / REVOKED / NOT FOUND — no login, no wallet</a:t>
            </a:r>
            <a:endParaRPr/>
          </a:p>
          <a:p>
            <a:pPr>
              <a:spcAft>
                <a:spcPts val="1000"/>
              </a:spcAft>
              <a:defRPr/>
            </a:pPr>
            <a:r>
              <a:rPr sz="1900">
                <a:solidFill>
                  <a:srgbClr val="0F1F3D"/>
                </a:solidFill>
                <a:latin typeface="Calibri"/>
              </a:rPr>
              <a:t>•  On-chain revocation with a recorded reason and transaction hash</a:t>
            </a:r>
            <a:endParaRPr/>
          </a:p>
          <a:p>
            <a:pPr>
              <a:spcAft>
                <a:spcPts val="1000"/>
              </a:spcAft>
              <a:defRPr/>
            </a:pPr>
            <a:r>
              <a:rPr sz="1900">
                <a:solidFill>
                  <a:srgbClr val="0F1F3D"/>
                </a:solidFill>
                <a:latin typeface="Calibri"/>
              </a:rPr>
              <a:t>•  Tamper detection by recomputing the hash from the database and comparing with the chain</a:t>
            </a:r>
            <a:endParaRPr/>
          </a:p>
          <a:p>
            <a:pPr>
              <a:spcAft>
                <a:spcPts val="1000"/>
              </a:spcAft>
              <a:defRPr/>
            </a:pPr>
            <a:r>
              <a:rPr sz="1900">
                <a:solidFill>
                  <a:srgbClr val="0F1F3D"/>
                </a:solidFill>
                <a:latin typeface="Calibri"/>
              </a:rPr>
              <a:t>•  Keep personal student data off-chain; only hashes are public</a:t>
            </a:r>
            <a:endParaRPr/>
          </a:p>
          <a:p>
            <a:pPr>
              <a:spcAft>
                <a:spcPts val="1000"/>
              </a:spcAft>
              <a:defRPr/>
            </a:pPr>
            <a:r>
              <a:rPr sz="1900">
                <a:solidFill>
                  <a:srgbClr val="0F1F3D"/>
                </a:solidFill>
                <a:latin typeface="Calibri"/>
              </a:rPr>
              <a:t>•  Deploy end-to-end on AWS with the contract on Polygon Amoy testnet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036312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91740329" name="Rectangle 2"/>
          <p:cNvSpPr/>
          <p:nvPr/>
        </p:nvSpPr>
        <p:spPr bwMode="auto">
          <a:xfrm>
            <a:off x="0" y="0"/>
            <a:ext cx="12191695" cy="1005840"/>
          </a:xfrm>
          <a:prstGeom prst="rect">
            <a:avLst/>
          </a:prstGeom>
          <a:solidFill>
            <a:srgbClr val="0F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492573" name="Rectangle 3"/>
          <p:cNvSpPr/>
          <p:nvPr/>
        </p:nvSpPr>
        <p:spPr bwMode="auto">
          <a:xfrm>
            <a:off x="0" y="1005840"/>
            <a:ext cx="12191695" cy="54864"/>
          </a:xfrm>
          <a:prstGeom prst="rect">
            <a:avLst/>
          </a:prstGeom>
          <a:solidFill>
            <a:srgbClr val="7B3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1970847" name="TextBox 4"/>
          <p:cNvSpPr txBox="1"/>
          <p:nvPr/>
        </p:nvSpPr>
        <p:spPr bwMode="auto">
          <a:xfrm>
            <a:off x="457200" y="0"/>
            <a:ext cx="10972800" cy="10058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defRPr/>
            </a:pPr>
            <a:r>
              <a:rPr sz="3000" b="1">
                <a:solidFill>
                  <a:srgbClr val="FFFFFF"/>
                </a:solidFill>
                <a:latin typeface="Calibri"/>
              </a:rPr>
              <a:t>Existing vs Proposed System</a:t>
            </a:r>
            <a:endParaRPr/>
          </a:p>
        </p:txBody>
      </p:sp>
      <p:sp>
        <p:nvSpPr>
          <p:cNvPr id="880102758" name="Rectangle 5"/>
          <p:cNvSpPr/>
          <p:nvPr/>
        </p:nvSpPr>
        <p:spPr bwMode="auto">
          <a:xfrm>
            <a:off x="0" y="6537960"/>
            <a:ext cx="12191695" cy="320040"/>
          </a:xfrm>
          <a:prstGeom prst="rect">
            <a:avLst/>
          </a:prstGeom>
          <a:solidFill>
            <a:srgbClr val="0F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51612761" name="TextBox 6"/>
          <p:cNvSpPr txBox="1"/>
          <p:nvPr/>
        </p:nvSpPr>
        <p:spPr bwMode="auto">
          <a:xfrm>
            <a:off x="365760" y="6537960"/>
            <a:ext cx="822960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defRPr/>
            </a:pPr>
            <a:r>
              <a:rPr sz="1100" b="0">
                <a:solidFill>
                  <a:srgbClr val="FFFFFF"/>
                </a:solidFill>
                <a:latin typeface="Calibri"/>
              </a:rPr>
              <a:t>Blockchain-Based Academic Credentials Verification System</a:t>
            </a:r>
            <a:endParaRPr/>
          </a:p>
        </p:txBody>
      </p:sp>
      <p:sp>
        <p:nvSpPr>
          <p:cNvPr id="310773716" name="TextBox 7"/>
          <p:cNvSpPr txBox="1"/>
          <p:nvPr/>
        </p:nvSpPr>
        <p:spPr bwMode="auto">
          <a:xfrm>
            <a:off x="10911535" y="6537960"/>
            <a:ext cx="91440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defRPr/>
            </a:pPr>
            <a:r>
              <a:rPr sz="1100" b="0">
                <a:solidFill>
                  <a:srgbClr val="FFFFFF"/>
                </a:solidFill>
                <a:latin typeface="Calibri"/>
              </a:rPr>
              <a:t>4</a:t>
            </a:r>
            <a:endParaRPr/>
          </a:p>
        </p:txBody>
      </p:sp>
      <p:graphicFrame>
        <p:nvGraphicFramePr>
          <p:cNvPr id="1270720411" name="Table 8"/>
          <p:cNvGraphicFramePr>
            <a:graphicFrameLocks xmlns:a="http://schemas.openxmlformats.org/drawingml/2006/main" noGrp="1"/>
          </p:cNvGraphicFramePr>
          <p:nvPr/>
        </p:nvGraphicFramePr>
        <p:xfrm rot="0">
          <a:off x="548640" y="1371600"/>
          <a:ext cx="11064240" cy="2560320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2377440"/>
                <a:gridCol w="3931920"/>
                <a:gridCol w="4754880"/>
              </a:tblGrid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Aspect</a:t>
                      </a:r>
                      <a:endParaRPr/>
                    </a:p>
                  </a:txBody>
                  <a:tcPr marL="73152" marR="73152" marT="36576" marB="36576">
                    <a:solidFill>
                      <a:srgbClr val="0F1F3D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Existing (manual / centralised)</a:t>
                      </a:r>
                      <a:endParaRPr/>
                    </a:p>
                  </a:txBody>
                  <a:tcPr marL="73152" marR="73152" marT="36576" marB="36576">
                    <a:solidFill>
                      <a:srgbClr val="0F1F3D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Proposed (this project)</a:t>
                      </a:r>
                      <a:endParaRPr/>
                    </a:p>
                  </a:txBody>
                  <a:tcPr marL="73152" marR="73152" marT="36576" marB="36576">
                    <a:solidFill>
                      <a:srgbClr val="0F1F3D"/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1">
                          <a:solidFill>
                            <a:srgbClr val="0F1F3D"/>
                          </a:solidFill>
                          <a:latin typeface="Calibri"/>
                        </a:rPr>
                        <a:t>Verification time</a:t>
                      </a:r>
                      <a:endParaRPr/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>
                          <a:solidFill>
                            <a:srgbClr val="0F1F3D"/>
                          </a:solidFill>
                          <a:latin typeface="Calibri"/>
                        </a:rPr>
                        <a:t>Days to weeks</a:t>
                      </a:r>
                      <a:endParaRPr/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>
                          <a:solidFill>
                            <a:srgbClr val="0F1F3D"/>
                          </a:solidFill>
                          <a:latin typeface="Calibri"/>
                        </a:rPr>
                        <a:t>Seconds</a:t>
                      </a:r>
                      <a:endParaRPr/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1">
                          <a:solidFill>
                            <a:srgbClr val="0F1F3D"/>
                          </a:solidFill>
                          <a:latin typeface="Calibri"/>
                        </a:rPr>
                        <a:t>Tamper evidence</a:t>
                      </a:r>
                      <a:endParaRPr/>
                    </a:p>
                  </a:txBody>
                  <a:tcPr marL="73152" marR="73152" marT="36576" marB="36576">
                    <a:solidFill>
                      <a:srgbClr val="E9EDF5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>
                          <a:solidFill>
                            <a:srgbClr val="0F1F3D"/>
                          </a:solidFill>
                          <a:latin typeface="Calibri"/>
                        </a:rPr>
                        <a:t>None — DB owner can edit records</a:t>
                      </a:r>
                      <a:endParaRPr/>
                    </a:p>
                  </a:txBody>
                  <a:tcPr marL="73152" marR="73152" marT="36576" marB="36576">
                    <a:solidFill>
                      <a:srgbClr val="E9EDF5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>
                          <a:solidFill>
                            <a:srgbClr val="0F1F3D"/>
                          </a:solidFill>
                          <a:latin typeface="Calibri"/>
                        </a:rPr>
                        <a:t>Hash on public blockchain; any change breaks it</a:t>
                      </a:r>
                      <a:endParaRPr/>
                    </a:p>
                  </a:txBody>
                  <a:tcPr marL="73152" marR="73152" marT="36576" marB="36576">
                    <a:solidFill>
                      <a:srgbClr val="E9EDF5"/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1">
                          <a:solidFill>
                            <a:srgbClr val="0F1F3D"/>
                          </a:solidFill>
                          <a:latin typeface="Calibri"/>
                        </a:rPr>
                        <a:t>Revocation visibility</a:t>
                      </a:r>
                      <a:endParaRPr/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>
                          <a:solidFill>
                            <a:srgbClr val="0F1F3D"/>
                          </a:solidFill>
                          <a:latin typeface="Calibri"/>
                        </a:rPr>
                        <a:t>Not propagated</a:t>
                      </a:r>
                      <a:endParaRPr/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>
                          <a:solidFill>
                            <a:srgbClr val="0F1F3D"/>
                          </a:solidFill>
                          <a:latin typeface="Calibri"/>
                        </a:rPr>
                        <a:t>On-chain with reason and timestamp</a:t>
                      </a:r>
                      <a:endParaRPr/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1">
                          <a:solidFill>
                            <a:srgbClr val="0F1F3D"/>
                          </a:solidFill>
                          <a:latin typeface="Calibri"/>
                        </a:rPr>
                        <a:t>Verifier requirements</a:t>
                      </a:r>
                      <a:endParaRPr/>
                    </a:p>
                  </a:txBody>
                  <a:tcPr marL="73152" marR="73152" marT="36576" marB="36576">
                    <a:solidFill>
                      <a:srgbClr val="E9EDF5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>
                          <a:solidFill>
                            <a:srgbClr val="0F1F3D"/>
                          </a:solidFill>
                          <a:latin typeface="Calibri"/>
                        </a:rPr>
                        <a:t>Contact the university</a:t>
                      </a:r>
                      <a:endParaRPr/>
                    </a:p>
                  </a:txBody>
                  <a:tcPr marL="73152" marR="73152" marT="36576" marB="36576">
                    <a:solidFill>
                      <a:srgbClr val="E9EDF5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>
                          <a:solidFill>
                            <a:srgbClr val="0F1F3D"/>
                          </a:solidFill>
                          <a:latin typeface="Calibri"/>
                        </a:rPr>
                        <a:t>Web browser only — no account, no wallet</a:t>
                      </a:r>
                      <a:endParaRPr/>
                    </a:p>
                  </a:txBody>
                  <a:tcPr marL="73152" marR="73152" marT="36576" marB="36576">
                    <a:solidFill>
                      <a:srgbClr val="E9EDF5"/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1">
                          <a:solidFill>
                            <a:srgbClr val="0F1F3D"/>
                          </a:solidFill>
                          <a:latin typeface="Calibri"/>
                        </a:rPr>
                        <a:t>Cost per verification</a:t>
                      </a:r>
                      <a:endParaRPr/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>
                          <a:solidFill>
                            <a:srgbClr val="0F1F3D"/>
                          </a:solidFill>
                          <a:latin typeface="Calibri"/>
                        </a:rPr>
                        <a:t>Staff time, postage</a:t>
                      </a:r>
                      <a:endParaRPr/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>
                          <a:solidFill>
                            <a:srgbClr val="0F1F3D"/>
                          </a:solidFill>
                          <a:latin typeface="Calibri"/>
                        </a:rPr>
                        <a:t>Negligible (read-only blockchain call)</a:t>
                      </a:r>
                      <a:endParaRPr/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1">
                          <a:solidFill>
                            <a:srgbClr val="0F1F3D"/>
                          </a:solidFill>
                          <a:latin typeface="Calibri"/>
                        </a:rPr>
                        <a:t>Privacy</a:t>
                      </a:r>
                      <a:endParaRPr/>
                    </a:p>
                  </a:txBody>
                  <a:tcPr marL="73152" marR="73152" marT="36576" marB="36576">
                    <a:solidFill>
                      <a:srgbClr val="E9EDF5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>
                          <a:solidFill>
                            <a:srgbClr val="0F1F3D"/>
                          </a:solidFill>
                          <a:latin typeface="Calibri"/>
                        </a:rPr>
                        <a:t>Full records shared</a:t>
                      </a:r>
                      <a:endParaRPr/>
                    </a:p>
                  </a:txBody>
                  <a:tcPr marL="73152" marR="73152" marT="36576" marB="36576">
                    <a:solidFill>
                      <a:srgbClr val="E9EDF5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>
                          <a:solidFill>
                            <a:srgbClr val="0F1F3D"/>
                          </a:solidFill>
                          <a:latin typeface="Calibri"/>
                        </a:rPr>
                        <a:t>Only a hash is public; details via institution's API</a:t>
                      </a:r>
                      <a:endParaRPr/>
                    </a:p>
                  </a:txBody>
                  <a:tcPr marL="73152" marR="73152" marT="36576" marB="36576">
                    <a:solidFill>
                      <a:srgbClr val="E9ED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6735188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29367849" name="Rectangle 2"/>
          <p:cNvSpPr/>
          <p:nvPr/>
        </p:nvSpPr>
        <p:spPr bwMode="auto">
          <a:xfrm>
            <a:off x="0" y="0"/>
            <a:ext cx="12191695" cy="1005840"/>
          </a:xfrm>
          <a:prstGeom prst="rect">
            <a:avLst/>
          </a:prstGeom>
          <a:solidFill>
            <a:srgbClr val="0F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04751793" name="Rectangle 3"/>
          <p:cNvSpPr/>
          <p:nvPr/>
        </p:nvSpPr>
        <p:spPr bwMode="auto">
          <a:xfrm>
            <a:off x="0" y="1005840"/>
            <a:ext cx="12191695" cy="54864"/>
          </a:xfrm>
          <a:prstGeom prst="rect">
            <a:avLst/>
          </a:prstGeom>
          <a:solidFill>
            <a:srgbClr val="7B3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81502514" name="TextBox 4"/>
          <p:cNvSpPr txBox="1"/>
          <p:nvPr/>
        </p:nvSpPr>
        <p:spPr bwMode="auto">
          <a:xfrm>
            <a:off x="457200" y="0"/>
            <a:ext cx="10972800" cy="10058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defRPr/>
            </a:pPr>
            <a:r>
              <a:rPr sz="3000" b="1">
                <a:solidFill>
                  <a:srgbClr val="FFFFFF"/>
                </a:solidFill>
                <a:latin typeface="Calibri"/>
              </a:rPr>
              <a:t>Core Idea: Hybrid On-chain / Off-chain</a:t>
            </a:r>
            <a:endParaRPr/>
          </a:p>
        </p:txBody>
      </p:sp>
      <p:sp>
        <p:nvSpPr>
          <p:cNvPr id="760396517" name="Rectangle 5"/>
          <p:cNvSpPr/>
          <p:nvPr/>
        </p:nvSpPr>
        <p:spPr bwMode="auto">
          <a:xfrm>
            <a:off x="0" y="6537960"/>
            <a:ext cx="12191695" cy="320040"/>
          </a:xfrm>
          <a:prstGeom prst="rect">
            <a:avLst/>
          </a:prstGeom>
          <a:solidFill>
            <a:srgbClr val="0F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35734108" name="TextBox 6"/>
          <p:cNvSpPr txBox="1"/>
          <p:nvPr/>
        </p:nvSpPr>
        <p:spPr bwMode="auto">
          <a:xfrm>
            <a:off x="365760" y="6537960"/>
            <a:ext cx="822960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defRPr/>
            </a:pPr>
            <a:r>
              <a:rPr sz="1100" b="0">
                <a:solidFill>
                  <a:srgbClr val="FFFFFF"/>
                </a:solidFill>
                <a:latin typeface="Calibri"/>
              </a:rPr>
              <a:t>Blockchain-Based Academic Credentials Verification System</a:t>
            </a:r>
            <a:endParaRPr/>
          </a:p>
        </p:txBody>
      </p:sp>
      <p:sp>
        <p:nvSpPr>
          <p:cNvPr id="1387909116" name="TextBox 7"/>
          <p:cNvSpPr txBox="1"/>
          <p:nvPr/>
        </p:nvSpPr>
        <p:spPr bwMode="auto">
          <a:xfrm>
            <a:off x="10911535" y="6537960"/>
            <a:ext cx="91440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defRPr/>
            </a:pPr>
            <a:r>
              <a:rPr sz="1100" b="0">
                <a:solidFill>
                  <a:srgbClr val="FFFFFF"/>
                </a:solidFill>
                <a:latin typeface="Calibri"/>
              </a:rPr>
              <a:t>5</a:t>
            </a:r>
            <a:endParaRPr/>
          </a:p>
        </p:txBody>
      </p:sp>
      <p:sp>
        <p:nvSpPr>
          <p:cNvPr id="1939488744" name="Rounded Rectangle 8"/>
          <p:cNvSpPr/>
          <p:nvPr/>
        </p:nvSpPr>
        <p:spPr bwMode="auto">
          <a:xfrm>
            <a:off x="548640" y="1463040"/>
            <a:ext cx="5303520" cy="4206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75609283" name="TextBox 9"/>
          <p:cNvSpPr txBox="1"/>
          <p:nvPr/>
        </p:nvSpPr>
        <p:spPr bwMode="auto">
          <a:xfrm>
            <a:off x="822960" y="1645920"/>
            <a:ext cx="47548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/>
            </a:pPr>
            <a:r>
              <a:rPr sz="2000" b="1">
                <a:solidFill>
                  <a:srgbClr val="0F1F3D"/>
                </a:solidFill>
                <a:latin typeface="Calibri"/>
              </a:rPr>
              <a:t>Off-chain  ·  PostgreSQL</a:t>
            </a:r>
            <a:endParaRPr/>
          </a:p>
        </p:txBody>
      </p:sp>
      <p:sp>
        <p:nvSpPr>
          <p:cNvPr id="1597300146" name="TextBox 10"/>
          <p:cNvSpPr txBox="1"/>
          <p:nvPr/>
        </p:nvSpPr>
        <p:spPr bwMode="auto">
          <a:xfrm>
            <a:off x="822960" y="2194560"/>
            <a:ext cx="47548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/>
            </a:pPr>
            <a:r>
              <a:rPr sz="1600">
                <a:solidFill>
                  <a:srgbClr val="555F70"/>
                </a:solidFill>
                <a:latin typeface="Calibri"/>
              </a:rPr>
              <a:t>•  Full credential record: student name &amp; ID, degree, course, department, grade, dates</a:t>
            </a:r>
            <a:endParaRPr/>
          </a:p>
          <a:p>
            <a:pPr>
              <a:spcAft>
                <a:spcPts val="600"/>
              </a:spcAft>
              <a:defRPr/>
            </a:pPr>
            <a:r>
              <a:rPr sz="1600">
                <a:solidFill>
                  <a:srgbClr val="555F70"/>
                </a:solidFill>
                <a:latin typeface="Calibri"/>
              </a:rPr>
              <a:t>•  Issuing administrator, revocation details</a:t>
            </a:r>
            <a:endParaRPr/>
          </a:p>
          <a:p>
            <a:pPr>
              <a:spcAft>
                <a:spcPts val="600"/>
              </a:spcAft>
              <a:defRPr/>
            </a:pPr>
            <a:r>
              <a:rPr sz="1600">
                <a:solidFill>
                  <a:srgbClr val="555F70"/>
                </a:solidFill>
                <a:latin typeface="Calibri"/>
              </a:rPr>
              <a:t>•  Owned and controlled by the institution</a:t>
            </a:r>
            <a:endParaRPr/>
          </a:p>
          <a:p>
            <a:pPr>
              <a:spcAft>
                <a:spcPts val="600"/>
              </a:spcAft>
              <a:defRPr/>
            </a:pPr>
            <a:r>
              <a:rPr sz="1600">
                <a:solidFill>
                  <a:srgbClr val="555F70"/>
                </a:solidFill>
                <a:latin typeface="Calibri"/>
              </a:rPr>
              <a:t>•  Private — never leaves the institution's API</a:t>
            </a:r>
            <a:endParaRPr/>
          </a:p>
        </p:txBody>
      </p:sp>
      <p:sp>
        <p:nvSpPr>
          <p:cNvPr id="178361559" name="Rounded Rectangle 11"/>
          <p:cNvSpPr/>
          <p:nvPr/>
        </p:nvSpPr>
        <p:spPr bwMode="auto">
          <a:xfrm>
            <a:off x="6309360" y="1463040"/>
            <a:ext cx="5303520" cy="4206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24462530" name="TextBox 12"/>
          <p:cNvSpPr txBox="1"/>
          <p:nvPr/>
        </p:nvSpPr>
        <p:spPr bwMode="auto">
          <a:xfrm>
            <a:off x="6583680" y="1645920"/>
            <a:ext cx="47548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/>
            </a:pPr>
            <a:r>
              <a:rPr sz="2000" b="1">
                <a:solidFill>
                  <a:srgbClr val="7B3FE4"/>
                </a:solidFill>
                <a:latin typeface="Calibri"/>
              </a:rPr>
              <a:t>On-chain  ·  Smart contract</a:t>
            </a:r>
            <a:endParaRPr/>
          </a:p>
        </p:txBody>
      </p:sp>
      <p:sp>
        <p:nvSpPr>
          <p:cNvPr id="1595595766" name="TextBox 13"/>
          <p:cNvSpPr txBox="1"/>
          <p:nvPr/>
        </p:nvSpPr>
        <p:spPr bwMode="auto">
          <a:xfrm>
            <a:off x="6583680" y="2194560"/>
            <a:ext cx="47548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/>
            </a:pPr>
            <a:r>
              <a:rPr sz="1600">
                <a:solidFill>
                  <a:srgbClr val="555F70"/>
                </a:solidFill>
                <a:latin typeface="Calibri"/>
              </a:rPr>
              <a:t>•  keccak256 hash of the canonical credential data</a:t>
            </a:r>
            <a:endParaRPr/>
          </a:p>
          <a:p>
            <a:pPr>
              <a:spcAft>
                <a:spcPts val="600"/>
              </a:spcAft>
              <a:defRPr/>
            </a:pPr>
            <a:r>
              <a:rPr sz="1600">
                <a:solidFill>
                  <a:srgbClr val="555F70"/>
                </a:solidFill>
                <a:latin typeface="Calibri"/>
              </a:rPr>
              <a:t>•  Issuer address, issue timestamp</a:t>
            </a:r>
            <a:endParaRPr/>
          </a:p>
          <a:p>
            <a:pPr>
              <a:spcAft>
                <a:spcPts val="600"/>
              </a:spcAft>
              <a:defRPr/>
            </a:pPr>
            <a:r>
              <a:rPr sz="1600">
                <a:solidFill>
                  <a:srgbClr val="555F70"/>
                </a:solidFill>
                <a:latin typeface="Calibri"/>
              </a:rPr>
              <a:t>•  Revocation flag, timestamp, reason</a:t>
            </a:r>
            <a:endParaRPr/>
          </a:p>
          <a:p>
            <a:pPr>
              <a:spcAft>
                <a:spcPts val="600"/>
              </a:spcAft>
              <a:defRPr/>
            </a:pPr>
            <a:r>
              <a:rPr sz="1600">
                <a:solidFill>
                  <a:srgbClr val="555F70"/>
                </a:solidFill>
                <a:latin typeface="Calibri"/>
              </a:rPr>
              <a:t>•  Public and immutable — anyone can audit</a:t>
            </a:r>
            <a:endParaRPr/>
          </a:p>
        </p:txBody>
      </p:sp>
      <p:sp>
        <p:nvSpPr>
          <p:cNvPr id="475795666" name="TextBox 14"/>
          <p:cNvSpPr txBox="1"/>
          <p:nvPr/>
        </p:nvSpPr>
        <p:spPr bwMode="auto">
          <a:xfrm>
            <a:off x="548640" y="5806440"/>
            <a:ext cx="1106424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/>
            </a:pPr>
            <a:r>
              <a:rPr sz="1500" b="1">
                <a:solidFill>
                  <a:srgbClr val="0F1F3D"/>
                </a:solidFill>
                <a:latin typeface="Calibri"/>
              </a:rPr>
              <a:t>Verify = recompute hash from the DB record  →  compare with on-chain hash.  Match = untampered.  Mismatch = tampered.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1949746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96593177" name="Rectangle 2"/>
          <p:cNvSpPr/>
          <p:nvPr/>
        </p:nvSpPr>
        <p:spPr bwMode="auto">
          <a:xfrm>
            <a:off x="0" y="0"/>
            <a:ext cx="12191695" cy="1005840"/>
          </a:xfrm>
          <a:prstGeom prst="rect">
            <a:avLst/>
          </a:prstGeom>
          <a:solidFill>
            <a:srgbClr val="0F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20373684" name="Rectangle 3"/>
          <p:cNvSpPr/>
          <p:nvPr/>
        </p:nvSpPr>
        <p:spPr bwMode="auto">
          <a:xfrm>
            <a:off x="0" y="1005840"/>
            <a:ext cx="12191695" cy="54864"/>
          </a:xfrm>
          <a:prstGeom prst="rect">
            <a:avLst/>
          </a:prstGeom>
          <a:solidFill>
            <a:srgbClr val="7B3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91202193" name="TextBox 4"/>
          <p:cNvSpPr txBox="1"/>
          <p:nvPr/>
        </p:nvSpPr>
        <p:spPr bwMode="auto">
          <a:xfrm>
            <a:off x="457200" y="0"/>
            <a:ext cx="10972800" cy="10058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defRPr/>
            </a:pPr>
            <a:r>
              <a:rPr sz="3000" b="1">
                <a:solidFill>
                  <a:srgbClr val="FFFFFF"/>
                </a:solidFill>
                <a:latin typeface="Calibri"/>
              </a:rPr>
              <a:t>System Architecture</a:t>
            </a:r>
            <a:endParaRPr/>
          </a:p>
        </p:txBody>
      </p:sp>
      <p:sp>
        <p:nvSpPr>
          <p:cNvPr id="1170018193" name="Rectangle 5"/>
          <p:cNvSpPr/>
          <p:nvPr/>
        </p:nvSpPr>
        <p:spPr bwMode="auto">
          <a:xfrm>
            <a:off x="0" y="6537960"/>
            <a:ext cx="12191695" cy="320040"/>
          </a:xfrm>
          <a:prstGeom prst="rect">
            <a:avLst/>
          </a:prstGeom>
          <a:solidFill>
            <a:srgbClr val="0F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10667120" name="TextBox 6"/>
          <p:cNvSpPr txBox="1"/>
          <p:nvPr/>
        </p:nvSpPr>
        <p:spPr bwMode="auto">
          <a:xfrm>
            <a:off x="365760" y="6537960"/>
            <a:ext cx="822960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defRPr/>
            </a:pPr>
            <a:r>
              <a:rPr sz="1100" b="0">
                <a:solidFill>
                  <a:srgbClr val="FFFFFF"/>
                </a:solidFill>
                <a:latin typeface="Calibri"/>
              </a:rPr>
              <a:t>Blockchain-Based Academic Credentials Verification System</a:t>
            </a:r>
            <a:endParaRPr/>
          </a:p>
        </p:txBody>
      </p:sp>
      <p:sp>
        <p:nvSpPr>
          <p:cNvPr id="90497825" name="TextBox 7"/>
          <p:cNvSpPr txBox="1"/>
          <p:nvPr/>
        </p:nvSpPr>
        <p:spPr bwMode="auto">
          <a:xfrm>
            <a:off x="10911535" y="6537960"/>
            <a:ext cx="91440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defRPr/>
            </a:pPr>
            <a:r>
              <a:rPr sz="1100" b="0">
                <a:solidFill>
                  <a:srgbClr val="FFFFFF"/>
                </a:solidFill>
                <a:latin typeface="Calibri"/>
              </a:rPr>
              <a:t>6</a:t>
            </a:r>
            <a:endParaRPr/>
          </a:p>
        </p:txBody>
      </p:sp>
      <p:sp>
        <p:nvSpPr>
          <p:cNvPr id="1332435138" name="Rounded Rectangle 8"/>
          <p:cNvSpPr/>
          <p:nvPr/>
        </p:nvSpPr>
        <p:spPr bwMode="auto">
          <a:xfrm>
            <a:off x="548640" y="1828800"/>
            <a:ext cx="3474720" cy="1737360"/>
          </a:xfrm>
          <a:prstGeom prst="roundRect">
            <a:avLst>
              <a:gd name="adj" fmla="val 16667"/>
            </a:avLst>
          </a:prstGeom>
          <a:solidFill>
            <a:srgbClr val="0F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62007409" name="TextBox 9"/>
          <p:cNvSpPr txBox="1"/>
          <p:nvPr/>
        </p:nvSpPr>
        <p:spPr bwMode="auto">
          <a:xfrm>
            <a:off x="548640" y="1920240"/>
            <a:ext cx="347472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/>
            </a:pPr>
            <a:r>
              <a:rPr sz="2000" b="1">
                <a:solidFill>
                  <a:srgbClr val="FFFFFF"/>
                </a:solidFill>
                <a:latin typeface="Calibri"/>
              </a:rPr>
              <a:t>React Frontend</a:t>
            </a:r>
            <a:endParaRPr/>
          </a:p>
        </p:txBody>
      </p:sp>
      <p:sp>
        <p:nvSpPr>
          <p:cNvPr id="1466237958" name="TextBox 10"/>
          <p:cNvSpPr txBox="1"/>
          <p:nvPr/>
        </p:nvSpPr>
        <p:spPr bwMode="auto">
          <a:xfrm>
            <a:off x="548640" y="2468880"/>
            <a:ext cx="3474720" cy="1005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/>
            </a:pPr>
            <a:r>
              <a:rPr sz="1300" b="0">
                <a:solidFill>
                  <a:srgbClr val="FFFFFF"/>
                </a:solidFill>
                <a:latin typeface="Calibri"/>
              </a:rPr>
              <a:t>Vite · TypeScript · Tailwind</a:t>
            </a:r>
            <a:br>
              <a:rPr sz="1300" b="0">
                <a:solidFill>
                  <a:srgbClr val="FFFFFF"/>
                </a:solidFill>
                <a:latin typeface="Calibri"/>
              </a:rPr>
            </a:br>
            <a:r>
              <a:rPr sz="1300" b="0">
                <a:solidFill>
                  <a:srgbClr val="FFFFFF"/>
                </a:solidFill>
                <a:latin typeface="Calibri"/>
              </a:rPr>
              <a:t>Admin + public verifier</a:t>
            </a:r>
            <a:endParaRPr/>
          </a:p>
        </p:txBody>
      </p:sp>
      <p:sp>
        <p:nvSpPr>
          <p:cNvPr id="1084489108" name="Rounded Rectangle 11"/>
          <p:cNvSpPr/>
          <p:nvPr/>
        </p:nvSpPr>
        <p:spPr bwMode="auto">
          <a:xfrm>
            <a:off x="4343400" y="1828800"/>
            <a:ext cx="3474720" cy="1737360"/>
          </a:xfrm>
          <a:prstGeom prst="roundRect">
            <a:avLst>
              <a:gd name="adj" fmla="val 16667"/>
            </a:avLst>
          </a:prstGeom>
          <a:solidFill>
            <a:srgbClr val="0F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24517138" name="TextBox 12"/>
          <p:cNvSpPr txBox="1"/>
          <p:nvPr/>
        </p:nvSpPr>
        <p:spPr bwMode="auto">
          <a:xfrm>
            <a:off x="4343400" y="1920240"/>
            <a:ext cx="347472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/>
            </a:pPr>
            <a:r>
              <a:rPr sz="2000" b="1">
                <a:solidFill>
                  <a:srgbClr val="FFFFFF"/>
                </a:solidFill>
                <a:latin typeface="Calibri"/>
              </a:rPr>
              <a:t>NestJS Backend</a:t>
            </a:r>
            <a:endParaRPr/>
          </a:p>
        </p:txBody>
      </p:sp>
      <p:sp>
        <p:nvSpPr>
          <p:cNvPr id="2103000764" name="TextBox 13"/>
          <p:cNvSpPr txBox="1"/>
          <p:nvPr/>
        </p:nvSpPr>
        <p:spPr bwMode="auto">
          <a:xfrm>
            <a:off x="4343400" y="2468880"/>
            <a:ext cx="3474720" cy="1005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/>
            </a:pPr>
            <a:r>
              <a:rPr sz="1300" b="0">
                <a:solidFill>
                  <a:srgbClr val="FFFFFF"/>
                </a:solidFill>
                <a:latin typeface="Calibri"/>
              </a:rPr>
              <a:t>Prisma ORM · JWT · ethers.js</a:t>
            </a:r>
            <a:br>
              <a:rPr sz="1300" b="0">
                <a:solidFill>
                  <a:srgbClr val="FFFFFF"/>
                </a:solidFill>
                <a:latin typeface="Calibri"/>
              </a:rPr>
            </a:br>
            <a:r>
              <a:rPr sz="1300" b="0">
                <a:solidFill>
                  <a:srgbClr val="FFFFFF"/>
                </a:solidFill>
                <a:latin typeface="Calibri"/>
              </a:rPr>
              <a:t>Signs all transactions</a:t>
            </a:r>
            <a:endParaRPr/>
          </a:p>
        </p:txBody>
      </p:sp>
      <p:sp>
        <p:nvSpPr>
          <p:cNvPr id="873660862" name="Rounded Rectangle 14"/>
          <p:cNvSpPr/>
          <p:nvPr/>
        </p:nvSpPr>
        <p:spPr bwMode="auto">
          <a:xfrm>
            <a:off x="8138160" y="1828800"/>
            <a:ext cx="3474720" cy="1737360"/>
          </a:xfrm>
          <a:prstGeom prst="roundRect">
            <a:avLst>
              <a:gd name="adj" fmla="val 16667"/>
            </a:avLst>
          </a:prstGeom>
          <a:solidFill>
            <a:srgbClr val="7B3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69550699" name="TextBox 15"/>
          <p:cNvSpPr txBox="1"/>
          <p:nvPr/>
        </p:nvSpPr>
        <p:spPr bwMode="auto">
          <a:xfrm>
            <a:off x="8138160" y="1920240"/>
            <a:ext cx="347472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/>
            </a:pPr>
            <a:r>
              <a:rPr sz="2000" b="1">
                <a:solidFill>
                  <a:srgbClr val="FFFFFF"/>
                </a:solidFill>
                <a:latin typeface="Calibri"/>
              </a:rPr>
              <a:t>CredentialRegistry</a:t>
            </a:r>
            <a:endParaRPr/>
          </a:p>
        </p:txBody>
      </p:sp>
      <p:sp>
        <p:nvSpPr>
          <p:cNvPr id="2032864296" name="TextBox 16"/>
          <p:cNvSpPr txBox="1"/>
          <p:nvPr/>
        </p:nvSpPr>
        <p:spPr bwMode="auto">
          <a:xfrm>
            <a:off x="8138160" y="2468880"/>
            <a:ext cx="3474720" cy="1005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/>
            </a:pPr>
            <a:r>
              <a:rPr sz="1300" b="0">
                <a:solidFill>
                  <a:srgbClr val="FFFFFF"/>
                </a:solidFill>
                <a:latin typeface="Calibri"/>
              </a:rPr>
              <a:t>Solidity · OpenZeppelin Ownable</a:t>
            </a:r>
            <a:br>
              <a:rPr sz="1300" b="0">
                <a:solidFill>
                  <a:srgbClr val="FFFFFF"/>
                </a:solidFill>
                <a:latin typeface="Calibri"/>
              </a:rPr>
            </a:br>
            <a:r>
              <a:rPr sz="1300" b="0">
                <a:solidFill>
                  <a:srgbClr val="FFFFFF"/>
                </a:solidFill>
                <a:latin typeface="Calibri"/>
              </a:rPr>
              <a:t>Polygon Amoy (chain 80002)</a:t>
            </a:r>
            <a:endParaRPr/>
          </a:p>
        </p:txBody>
      </p:sp>
      <p:sp>
        <p:nvSpPr>
          <p:cNvPr id="1670000667" name="TextBox 17"/>
          <p:cNvSpPr txBox="1"/>
          <p:nvPr/>
        </p:nvSpPr>
        <p:spPr bwMode="auto">
          <a:xfrm>
            <a:off x="3474720" y="1417320"/>
            <a:ext cx="14630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/>
            </a:pPr>
            <a:r>
              <a:rPr sz="1200" b="0">
                <a:solidFill>
                  <a:srgbClr val="555F70"/>
                </a:solidFill>
                <a:latin typeface="Calibri"/>
              </a:rPr>
              <a:t>HTTPS / JSON</a:t>
            </a:r>
            <a:endParaRPr/>
          </a:p>
        </p:txBody>
      </p:sp>
      <p:sp>
        <p:nvSpPr>
          <p:cNvPr id="1305779289" name="TextBox 18"/>
          <p:cNvSpPr txBox="1"/>
          <p:nvPr/>
        </p:nvSpPr>
        <p:spPr bwMode="auto">
          <a:xfrm>
            <a:off x="3840480" y="2377440"/>
            <a:ext cx="73152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/>
            </a:pPr>
            <a:r>
              <a:rPr sz="2800" b="0">
                <a:solidFill>
                  <a:srgbClr val="7B3FE4"/>
                </a:solidFill>
                <a:latin typeface="Calibri"/>
              </a:rPr>
              <a:t>⟷</a:t>
            </a:r>
            <a:endParaRPr/>
          </a:p>
        </p:txBody>
      </p:sp>
      <p:sp>
        <p:nvSpPr>
          <p:cNvPr id="794266324" name="TextBox 19"/>
          <p:cNvSpPr txBox="1"/>
          <p:nvPr/>
        </p:nvSpPr>
        <p:spPr bwMode="auto">
          <a:xfrm>
            <a:off x="7269480" y="1417320"/>
            <a:ext cx="14630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/>
            </a:pPr>
            <a:r>
              <a:rPr sz="1200" b="0">
                <a:solidFill>
                  <a:srgbClr val="555F70"/>
                </a:solidFill>
                <a:latin typeface="Calibri"/>
              </a:rPr>
              <a:t>JSON-RPC</a:t>
            </a:r>
            <a:endParaRPr/>
          </a:p>
        </p:txBody>
      </p:sp>
      <p:sp>
        <p:nvSpPr>
          <p:cNvPr id="867504630" name="TextBox 20"/>
          <p:cNvSpPr txBox="1"/>
          <p:nvPr/>
        </p:nvSpPr>
        <p:spPr bwMode="auto">
          <a:xfrm>
            <a:off x="7635240" y="2377440"/>
            <a:ext cx="73152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/>
            </a:pPr>
            <a:r>
              <a:rPr sz="2800" b="0">
                <a:solidFill>
                  <a:srgbClr val="7B3FE4"/>
                </a:solidFill>
                <a:latin typeface="Calibri"/>
              </a:rPr>
              <a:t>⟷</a:t>
            </a:r>
            <a:endParaRPr/>
          </a:p>
        </p:txBody>
      </p:sp>
      <p:sp>
        <p:nvSpPr>
          <p:cNvPr id="22021436" name="Rounded Rectangle 21"/>
          <p:cNvSpPr/>
          <p:nvPr/>
        </p:nvSpPr>
        <p:spPr bwMode="auto">
          <a:xfrm>
            <a:off x="4343400" y="4297680"/>
            <a:ext cx="3474720" cy="1188720"/>
          </a:xfrm>
          <a:prstGeom prst="roundRect">
            <a:avLst>
              <a:gd name="adj" fmla="val 16667"/>
            </a:avLst>
          </a:prstGeom>
          <a:solidFill>
            <a:srgbClr val="2E6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93557961" name="TextBox 22"/>
          <p:cNvSpPr txBox="1"/>
          <p:nvPr/>
        </p:nvSpPr>
        <p:spPr bwMode="auto">
          <a:xfrm>
            <a:off x="4343400" y="4343400"/>
            <a:ext cx="347472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/>
            </a:pPr>
            <a:r>
              <a:rPr sz="2000" b="1">
                <a:solidFill>
                  <a:srgbClr val="FFFFFF"/>
                </a:solidFill>
                <a:latin typeface="Calibri"/>
              </a:rPr>
              <a:t>PostgreSQL</a:t>
            </a:r>
            <a:endParaRPr/>
          </a:p>
        </p:txBody>
      </p:sp>
      <p:sp>
        <p:nvSpPr>
          <p:cNvPr id="1564074249" name="TextBox 23"/>
          <p:cNvSpPr txBox="1"/>
          <p:nvPr/>
        </p:nvSpPr>
        <p:spPr bwMode="auto">
          <a:xfrm>
            <a:off x="4343400" y="4846320"/>
            <a:ext cx="347472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/>
            </a:pPr>
            <a:r>
              <a:rPr sz="1300" b="0">
                <a:solidFill>
                  <a:srgbClr val="FFFFFF"/>
                </a:solidFill>
                <a:latin typeface="Calibri"/>
              </a:rPr>
              <a:t>Full credential records (off-chain)</a:t>
            </a:r>
            <a:endParaRPr/>
          </a:p>
        </p:txBody>
      </p:sp>
      <p:sp>
        <p:nvSpPr>
          <p:cNvPr id="1283357766" name="TextBox 24"/>
          <p:cNvSpPr txBox="1"/>
          <p:nvPr/>
        </p:nvSpPr>
        <p:spPr bwMode="auto">
          <a:xfrm>
            <a:off x="5760720" y="3566160"/>
            <a:ext cx="73152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/>
            </a:pPr>
            <a:r>
              <a:rPr sz="2800" b="0">
                <a:solidFill>
                  <a:srgbClr val="7B3FE4"/>
                </a:solidFill>
                <a:latin typeface="Calibri"/>
              </a:rPr>
              <a:t>↕</a:t>
            </a:r>
            <a:endParaRPr/>
          </a:p>
        </p:txBody>
      </p:sp>
      <p:sp>
        <p:nvSpPr>
          <p:cNvPr id="1832418867" name="TextBox 25"/>
          <p:cNvSpPr txBox="1"/>
          <p:nvPr/>
        </p:nvSpPr>
        <p:spPr bwMode="auto">
          <a:xfrm>
            <a:off x="548640" y="5760720"/>
            <a:ext cx="1106424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/>
            </a:pPr>
            <a:r>
              <a:rPr sz="1400" b="0">
                <a:solidFill>
                  <a:srgbClr val="555F70"/>
                </a:solidFill>
                <a:latin typeface="Calibri"/>
              </a:rPr>
              <a:t>The browser never touches the blockchain. The backend wallet is the contract owner — verifiers and students need no wallet or tokens.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7300118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73628568" name="Rectangle 2"/>
          <p:cNvSpPr/>
          <p:nvPr/>
        </p:nvSpPr>
        <p:spPr bwMode="auto">
          <a:xfrm>
            <a:off x="0" y="0"/>
            <a:ext cx="12191695" cy="1005840"/>
          </a:xfrm>
          <a:prstGeom prst="rect">
            <a:avLst/>
          </a:prstGeom>
          <a:solidFill>
            <a:srgbClr val="0F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58733031" name="Rectangle 3"/>
          <p:cNvSpPr/>
          <p:nvPr/>
        </p:nvSpPr>
        <p:spPr bwMode="auto">
          <a:xfrm>
            <a:off x="0" y="1005840"/>
            <a:ext cx="12191695" cy="54864"/>
          </a:xfrm>
          <a:prstGeom prst="rect">
            <a:avLst/>
          </a:prstGeom>
          <a:solidFill>
            <a:srgbClr val="7B3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69406757" name="TextBox 4"/>
          <p:cNvSpPr txBox="1"/>
          <p:nvPr/>
        </p:nvSpPr>
        <p:spPr bwMode="auto">
          <a:xfrm>
            <a:off x="457200" y="0"/>
            <a:ext cx="10972800" cy="10058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defRPr/>
            </a:pPr>
            <a:r>
              <a:rPr sz="3000" b="1">
                <a:solidFill>
                  <a:srgbClr val="FFFFFF"/>
                </a:solidFill>
                <a:latin typeface="Calibri"/>
              </a:rPr>
              <a:t>Smart Contract: CredentialRegistry</a:t>
            </a:r>
            <a:endParaRPr/>
          </a:p>
        </p:txBody>
      </p:sp>
      <p:sp>
        <p:nvSpPr>
          <p:cNvPr id="126459499" name="Rectangle 5"/>
          <p:cNvSpPr/>
          <p:nvPr/>
        </p:nvSpPr>
        <p:spPr bwMode="auto">
          <a:xfrm>
            <a:off x="0" y="6537960"/>
            <a:ext cx="12191695" cy="320040"/>
          </a:xfrm>
          <a:prstGeom prst="rect">
            <a:avLst/>
          </a:prstGeom>
          <a:solidFill>
            <a:srgbClr val="0F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78747328" name="TextBox 6"/>
          <p:cNvSpPr txBox="1"/>
          <p:nvPr/>
        </p:nvSpPr>
        <p:spPr bwMode="auto">
          <a:xfrm>
            <a:off x="365760" y="6537960"/>
            <a:ext cx="822960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defRPr/>
            </a:pPr>
            <a:r>
              <a:rPr sz="1100" b="0">
                <a:solidFill>
                  <a:srgbClr val="FFFFFF"/>
                </a:solidFill>
                <a:latin typeface="Calibri"/>
              </a:rPr>
              <a:t>Blockchain-Based Academic Credentials Verification System</a:t>
            </a:r>
            <a:endParaRPr/>
          </a:p>
        </p:txBody>
      </p:sp>
      <p:sp>
        <p:nvSpPr>
          <p:cNvPr id="914237726" name="TextBox 7"/>
          <p:cNvSpPr txBox="1"/>
          <p:nvPr/>
        </p:nvSpPr>
        <p:spPr bwMode="auto">
          <a:xfrm>
            <a:off x="10911535" y="6537960"/>
            <a:ext cx="91440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defRPr/>
            </a:pPr>
            <a:r>
              <a:rPr sz="1100" b="0">
                <a:solidFill>
                  <a:srgbClr val="FFFFFF"/>
                </a:solidFill>
                <a:latin typeface="Calibri"/>
              </a:rPr>
              <a:t>7</a:t>
            </a:r>
            <a:endParaRPr/>
          </a:p>
        </p:txBody>
      </p:sp>
      <p:sp>
        <p:nvSpPr>
          <p:cNvPr id="1680635790" name="TextBox 8"/>
          <p:cNvSpPr txBox="1"/>
          <p:nvPr/>
        </p:nvSpPr>
        <p:spPr bwMode="auto">
          <a:xfrm>
            <a:off x="548640" y="1371600"/>
            <a:ext cx="5669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/>
            </a:pPr>
            <a:r>
              <a:rPr sz="1600">
                <a:solidFill>
                  <a:srgbClr val="0F1F3D"/>
                </a:solidFill>
                <a:latin typeface="Calibri"/>
              </a:rPr>
              <a:t>•  Solidity 0.8.28 · OpenZeppelin Ownable for access control</a:t>
            </a:r>
            <a:endParaRPr/>
          </a:p>
          <a:p>
            <a:pPr>
              <a:spcAft>
                <a:spcPts val="800"/>
              </a:spcAft>
              <a:defRPr/>
            </a:pPr>
            <a:r>
              <a:rPr sz="1600">
                <a:solidFill>
                  <a:srgbClr val="0F1F3D"/>
                </a:solidFill>
                <a:latin typeface="Calibri"/>
              </a:rPr>
              <a:t>•  issueCredential(id, hash) — owner only; emits CredentialIssued</a:t>
            </a:r>
            <a:endParaRPr/>
          </a:p>
          <a:p>
            <a:pPr>
              <a:spcAft>
                <a:spcPts val="800"/>
              </a:spcAft>
              <a:defRPr/>
            </a:pPr>
            <a:r>
              <a:rPr sz="1600">
                <a:solidFill>
                  <a:srgbClr val="0F1F3D"/>
                </a:solidFill>
                <a:latin typeface="Calibri"/>
              </a:rPr>
              <a:t>•  revokeCredential(id, reason) — owner only; emits CredentialRevoked</a:t>
            </a:r>
            <a:endParaRPr/>
          </a:p>
          <a:p>
            <a:pPr>
              <a:spcAft>
                <a:spcPts val="800"/>
              </a:spcAft>
              <a:defRPr/>
            </a:pPr>
            <a:r>
              <a:rPr sz="1600">
                <a:solidFill>
                  <a:srgbClr val="0F1F3D"/>
                </a:solidFill>
                <a:latin typeface="Calibri"/>
              </a:rPr>
              <a:t>•  verifyCredential(id) — public read; returns exists=false for unknown IDs (never reverts)</a:t>
            </a:r>
            <a:endParaRPr/>
          </a:p>
          <a:p>
            <a:pPr>
              <a:spcAft>
                <a:spcPts val="800"/>
              </a:spcAft>
              <a:defRPr/>
            </a:pPr>
            <a:r>
              <a:rPr sz="1600">
                <a:solidFill>
                  <a:srgbClr val="0F1F3D"/>
                </a:solidFill>
                <a:latin typeface="Calibri"/>
              </a:rPr>
              <a:t>•  Custom errors: EmptyCredentialId, EmptyCredentialHash, AlreadyIssued, CredentialNotFound, AlreadyRevoked</a:t>
            </a:r>
            <a:endParaRPr/>
          </a:p>
          <a:p>
            <a:pPr>
              <a:spcAft>
                <a:spcPts val="800"/>
              </a:spcAft>
              <a:defRPr/>
            </a:pPr>
            <a:r>
              <a:rPr sz="1600">
                <a:solidFill>
                  <a:srgbClr val="0F1F3D"/>
                </a:solidFill>
                <a:latin typeface="Calibri"/>
              </a:rPr>
              <a:t>•  Unauthorised callers → OwnableUnauthorizedAccount</a:t>
            </a:r>
            <a:endParaRPr/>
          </a:p>
        </p:txBody>
      </p:sp>
      <p:sp>
        <p:nvSpPr>
          <p:cNvPr id="448867856" name="Rounded Rectangle 9"/>
          <p:cNvSpPr/>
          <p:nvPr/>
        </p:nvSpPr>
        <p:spPr bwMode="auto">
          <a:xfrm>
            <a:off x="6492240" y="1463040"/>
            <a:ext cx="5120640" cy="4480560"/>
          </a:xfrm>
          <a:prstGeom prst="roundRect">
            <a:avLst>
              <a:gd name="adj" fmla="val 16667"/>
            </a:avLst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8586957" name="TextBox 10"/>
          <p:cNvSpPr txBox="1"/>
          <p:nvPr/>
        </p:nvSpPr>
        <p:spPr bwMode="auto">
          <a:xfrm>
            <a:off x="6675120" y="1600200"/>
            <a:ext cx="4846320" cy="4297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/>
            </a:pPr>
            <a:r>
              <a:rPr sz="1300" b="0">
                <a:solidFill>
                  <a:srgbClr val="D4E1FF"/>
                </a:solidFill>
                <a:latin typeface="Consolas"/>
              </a:rPr>
              <a:t>struct Credential {</a:t>
            </a:r>
            <a:br>
              <a:rPr sz="1300" b="0">
                <a:solidFill>
                  <a:srgbClr val="D4E1FF"/>
                </a:solidFill>
                <a:latin typeface="Consolas"/>
              </a:rPr>
            </a:br>
            <a:r>
              <a:rPr sz="1300" b="0">
                <a:solidFill>
                  <a:srgbClr val="D4E1FF"/>
                </a:solidFill>
                <a:latin typeface="Consolas"/>
              </a:rPr>
              <a:t>  bytes32 credentialHash;</a:t>
            </a:r>
            <a:br>
              <a:rPr sz="1300" b="0">
                <a:solidFill>
                  <a:srgbClr val="D4E1FF"/>
                </a:solidFill>
                <a:latin typeface="Consolas"/>
              </a:rPr>
            </a:br>
            <a:r>
              <a:rPr sz="1300" b="0">
                <a:solidFill>
                  <a:srgbClr val="D4E1FF"/>
                </a:solidFill>
                <a:latin typeface="Consolas"/>
              </a:rPr>
              <a:t>  address issuer;</a:t>
            </a:r>
            <a:br>
              <a:rPr sz="1300" b="0">
                <a:solidFill>
                  <a:srgbClr val="D4E1FF"/>
                </a:solidFill>
                <a:latin typeface="Consolas"/>
              </a:rPr>
            </a:br>
            <a:r>
              <a:rPr sz="1300" b="0">
                <a:solidFill>
                  <a:srgbClr val="D4E1FF"/>
                </a:solidFill>
                <a:latin typeface="Consolas"/>
              </a:rPr>
              <a:t>  uint256 issueTimestamp;</a:t>
            </a:r>
            <a:br>
              <a:rPr sz="1300" b="0">
                <a:solidFill>
                  <a:srgbClr val="D4E1FF"/>
                </a:solidFill>
                <a:latin typeface="Consolas"/>
              </a:rPr>
            </a:br>
            <a:r>
              <a:rPr sz="1300" b="0">
                <a:solidFill>
                  <a:srgbClr val="D4E1FF"/>
                </a:solidFill>
                <a:latin typeface="Consolas"/>
              </a:rPr>
              <a:t>  bool    isRevoked;</a:t>
            </a:r>
            <a:br>
              <a:rPr sz="1300" b="0">
                <a:solidFill>
                  <a:srgbClr val="D4E1FF"/>
                </a:solidFill>
                <a:latin typeface="Consolas"/>
              </a:rPr>
            </a:br>
            <a:r>
              <a:rPr sz="1300" b="0">
                <a:solidFill>
                  <a:srgbClr val="D4E1FF"/>
                </a:solidFill>
                <a:latin typeface="Consolas"/>
              </a:rPr>
              <a:t>  uint256 revocationTimestamp;</a:t>
            </a:r>
            <a:br>
              <a:rPr sz="1300" b="0">
                <a:solidFill>
                  <a:srgbClr val="D4E1FF"/>
                </a:solidFill>
                <a:latin typeface="Consolas"/>
              </a:rPr>
            </a:br>
            <a:r>
              <a:rPr sz="1300" b="0">
                <a:solidFill>
                  <a:srgbClr val="D4E1FF"/>
                </a:solidFill>
                <a:latin typeface="Consolas"/>
              </a:rPr>
              <a:t>  string  revocationReason;</a:t>
            </a:r>
            <a:br>
              <a:rPr sz="1300" b="0">
                <a:solidFill>
                  <a:srgbClr val="D4E1FF"/>
                </a:solidFill>
                <a:latin typeface="Consolas"/>
              </a:rPr>
            </a:br>
            <a:r>
              <a:rPr sz="1300" b="0">
                <a:solidFill>
                  <a:srgbClr val="D4E1FF"/>
                </a:solidFill>
                <a:latin typeface="Consolas"/>
              </a:rPr>
              <a:t>}</a:t>
            </a:r>
            <a:br>
              <a:rPr sz="1300" b="0">
                <a:solidFill>
                  <a:srgbClr val="D4E1FF"/>
                </a:solidFill>
                <a:latin typeface="Consolas"/>
              </a:rPr>
            </a:br>
            <a:br>
              <a:rPr sz="1300" b="0">
                <a:solidFill>
                  <a:srgbClr val="D4E1FF"/>
                </a:solidFill>
                <a:latin typeface="Consolas"/>
              </a:rPr>
            </a:br>
            <a:r>
              <a:rPr sz="1300" b="0">
                <a:solidFill>
                  <a:srgbClr val="D4E1FF"/>
                </a:solidFill>
                <a:latin typeface="Consolas"/>
              </a:rPr>
              <a:t>mapping(string =&gt; Credential)</a:t>
            </a:r>
            <a:br>
              <a:rPr sz="1300" b="0">
                <a:solidFill>
                  <a:srgbClr val="D4E1FF"/>
                </a:solidFill>
                <a:latin typeface="Consolas"/>
              </a:rPr>
            </a:br>
            <a:r>
              <a:rPr sz="1300" b="0">
                <a:solidFill>
                  <a:srgbClr val="D4E1FF"/>
                </a:solidFill>
                <a:latin typeface="Consolas"/>
              </a:rPr>
              <a:t>  private _credentials;</a:t>
            </a:r>
            <a:br>
              <a:rPr sz="1300" b="0">
                <a:solidFill>
                  <a:srgbClr val="D4E1FF"/>
                </a:solidFill>
                <a:latin typeface="Consolas"/>
              </a:rPr>
            </a:br>
            <a:br>
              <a:rPr sz="1300" b="0">
                <a:solidFill>
                  <a:srgbClr val="D4E1FF"/>
                </a:solidFill>
                <a:latin typeface="Consolas"/>
              </a:rPr>
            </a:br>
            <a:r>
              <a:rPr sz="1300" b="0">
                <a:solidFill>
                  <a:srgbClr val="D4E1FF"/>
                </a:solidFill>
                <a:latin typeface="Consolas"/>
              </a:rPr>
              <a:t>// 26 automated tests</a:t>
            </a:r>
            <a:br>
              <a:rPr sz="1300" b="0">
                <a:solidFill>
                  <a:srgbClr val="D4E1FF"/>
                </a:solidFill>
                <a:latin typeface="Consolas"/>
              </a:rPr>
            </a:br>
            <a:r>
              <a:rPr sz="1300" b="0">
                <a:solidFill>
                  <a:srgbClr val="D4E1FF"/>
                </a:solidFill>
                <a:latin typeface="Consolas"/>
              </a:rPr>
              <a:t>// 15 Solidity (incl. fuzz) + 11 Mocha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7273329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75300611" name="Rectangle 2"/>
          <p:cNvSpPr/>
          <p:nvPr/>
        </p:nvSpPr>
        <p:spPr bwMode="auto">
          <a:xfrm>
            <a:off x="0" y="0"/>
            <a:ext cx="12191695" cy="1005840"/>
          </a:xfrm>
          <a:prstGeom prst="rect">
            <a:avLst/>
          </a:prstGeom>
          <a:solidFill>
            <a:srgbClr val="0F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78565851" name="Rectangle 3"/>
          <p:cNvSpPr/>
          <p:nvPr/>
        </p:nvSpPr>
        <p:spPr bwMode="auto">
          <a:xfrm>
            <a:off x="0" y="1005840"/>
            <a:ext cx="12191695" cy="54864"/>
          </a:xfrm>
          <a:prstGeom prst="rect">
            <a:avLst/>
          </a:prstGeom>
          <a:solidFill>
            <a:srgbClr val="7B3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1260367" name="TextBox 4"/>
          <p:cNvSpPr txBox="1"/>
          <p:nvPr/>
        </p:nvSpPr>
        <p:spPr bwMode="auto">
          <a:xfrm>
            <a:off x="457200" y="0"/>
            <a:ext cx="10972800" cy="10058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defRPr/>
            </a:pPr>
            <a:r>
              <a:rPr sz="3000" b="1">
                <a:solidFill>
                  <a:srgbClr val="FFFFFF"/>
                </a:solidFill>
                <a:latin typeface="Calibri"/>
              </a:rPr>
              <a:t>System Modules</a:t>
            </a:r>
            <a:endParaRPr/>
          </a:p>
        </p:txBody>
      </p:sp>
      <p:sp>
        <p:nvSpPr>
          <p:cNvPr id="1514888607" name="Rectangle 5"/>
          <p:cNvSpPr/>
          <p:nvPr/>
        </p:nvSpPr>
        <p:spPr bwMode="auto">
          <a:xfrm>
            <a:off x="0" y="6537960"/>
            <a:ext cx="12191695" cy="320040"/>
          </a:xfrm>
          <a:prstGeom prst="rect">
            <a:avLst/>
          </a:prstGeom>
          <a:solidFill>
            <a:srgbClr val="0F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8769733" name="TextBox 6"/>
          <p:cNvSpPr txBox="1"/>
          <p:nvPr/>
        </p:nvSpPr>
        <p:spPr bwMode="auto">
          <a:xfrm>
            <a:off x="365760" y="6537960"/>
            <a:ext cx="822960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defRPr/>
            </a:pPr>
            <a:r>
              <a:rPr sz="1100" b="0">
                <a:solidFill>
                  <a:srgbClr val="FFFFFF"/>
                </a:solidFill>
                <a:latin typeface="Calibri"/>
              </a:rPr>
              <a:t>Blockchain-Based Academic Credentials Verification System</a:t>
            </a:r>
            <a:endParaRPr/>
          </a:p>
        </p:txBody>
      </p:sp>
      <p:sp>
        <p:nvSpPr>
          <p:cNvPr id="1527681765" name="TextBox 7"/>
          <p:cNvSpPr txBox="1"/>
          <p:nvPr/>
        </p:nvSpPr>
        <p:spPr bwMode="auto">
          <a:xfrm>
            <a:off x="10911535" y="6537960"/>
            <a:ext cx="91440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defRPr/>
            </a:pPr>
            <a:r>
              <a:rPr sz="1100" b="0">
                <a:solidFill>
                  <a:srgbClr val="FFFFFF"/>
                </a:solidFill>
                <a:latin typeface="Calibri"/>
              </a:rPr>
              <a:t>8</a:t>
            </a:r>
            <a:endParaRPr/>
          </a:p>
        </p:txBody>
      </p:sp>
      <p:sp>
        <p:nvSpPr>
          <p:cNvPr id="1133870690" name="Rounded Rectangle 8"/>
          <p:cNvSpPr/>
          <p:nvPr/>
        </p:nvSpPr>
        <p:spPr bwMode="auto">
          <a:xfrm>
            <a:off x="548640" y="1463040"/>
            <a:ext cx="2651760" cy="4480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89272574" name="Rectangle 9"/>
          <p:cNvSpPr/>
          <p:nvPr/>
        </p:nvSpPr>
        <p:spPr bwMode="auto">
          <a:xfrm>
            <a:off x="548640" y="1463040"/>
            <a:ext cx="2651760" cy="73152"/>
          </a:xfrm>
          <a:prstGeom prst="rect">
            <a:avLst/>
          </a:prstGeom>
          <a:solidFill>
            <a:srgbClr val="7B3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6603295" name="TextBox 10"/>
          <p:cNvSpPr txBox="1"/>
          <p:nvPr/>
        </p:nvSpPr>
        <p:spPr bwMode="auto">
          <a:xfrm>
            <a:off x="685800" y="1645920"/>
            <a:ext cx="237744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/>
            </a:pPr>
            <a:r>
              <a:rPr sz="1600" b="1">
                <a:solidFill>
                  <a:srgbClr val="0F1F3D"/>
                </a:solidFill>
                <a:latin typeface="Calibri"/>
              </a:rPr>
              <a:t>Backend API (NestJS)</a:t>
            </a:r>
            <a:endParaRPr/>
          </a:p>
        </p:txBody>
      </p:sp>
      <p:sp>
        <p:nvSpPr>
          <p:cNvPr id="1966717232" name="TextBox 11"/>
          <p:cNvSpPr txBox="1"/>
          <p:nvPr/>
        </p:nvSpPr>
        <p:spPr bwMode="auto">
          <a:xfrm>
            <a:off x="685800" y="2194560"/>
            <a:ext cx="2377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/>
            </a:pPr>
            <a:r>
              <a:rPr sz="1300">
                <a:solidFill>
                  <a:srgbClr val="555F70"/>
                </a:solidFill>
                <a:latin typeface="Calibri"/>
              </a:rPr>
              <a:t>•  Auth: bcrypt + JWT</a:t>
            </a:r>
            <a:endParaRPr/>
          </a:p>
          <a:p>
            <a:pPr>
              <a:spcAft>
                <a:spcPts val="800"/>
              </a:spcAft>
              <a:defRPr/>
            </a:pPr>
            <a:r>
              <a:rPr sz="1300">
                <a:solidFill>
                  <a:srgbClr val="555F70"/>
                </a:solidFill>
                <a:latin typeface="Calibri"/>
              </a:rPr>
              <a:t>•  Credentials: issue / list / verify / revoke / retry-anchor</a:t>
            </a:r>
            <a:endParaRPr/>
          </a:p>
          <a:p>
            <a:pPr>
              <a:spcAft>
                <a:spcPts val="800"/>
              </a:spcAft>
              <a:defRPr/>
            </a:pPr>
            <a:r>
              <a:rPr sz="1300">
                <a:solidFill>
                  <a:srgbClr val="555F70"/>
                </a:solidFill>
                <a:latin typeface="Calibri"/>
              </a:rPr>
              <a:t>•  Blockchain: ethers.js wrapper</a:t>
            </a:r>
            <a:endParaRPr/>
          </a:p>
          <a:p>
            <a:pPr>
              <a:spcAft>
                <a:spcPts val="800"/>
              </a:spcAft>
              <a:defRPr/>
            </a:pPr>
            <a:r>
              <a:rPr sz="1300">
                <a:solidFill>
                  <a:srgbClr val="555F70"/>
                </a:solidFill>
                <a:latin typeface="Calibri"/>
              </a:rPr>
              <a:t>•  Health: /api/health for AWS</a:t>
            </a:r>
            <a:endParaRPr/>
          </a:p>
        </p:txBody>
      </p:sp>
      <p:sp>
        <p:nvSpPr>
          <p:cNvPr id="1478064342" name="Rounded Rectangle 12"/>
          <p:cNvSpPr/>
          <p:nvPr/>
        </p:nvSpPr>
        <p:spPr bwMode="auto">
          <a:xfrm>
            <a:off x="3383280" y="1463040"/>
            <a:ext cx="2651760" cy="4480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14968013" name="Rectangle 13"/>
          <p:cNvSpPr/>
          <p:nvPr/>
        </p:nvSpPr>
        <p:spPr bwMode="auto">
          <a:xfrm>
            <a:off x="3383280" y="1463040"/>
            <a:ext cx="2651760" cy="73152"/>
          </a:xfrm>
          <a:prstGeom prst="rect">
            <a:avLst/>
          </a:prstGeom>
          <a:solidFill>
            <a:srgbClr val="7B3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97734457" name="TextBox 14"/>
          <p:cNvSpPr txBox="1"/>
          <p:nvPr/>
        </p:nvSpPr>
        <p:spPr bwMode="auto">
          <a:xfrm>
            <a:off x="3520440" y="1645920"/>
            <a:ext cx="237744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/>
            </a:pPr>
            <a:r>
              <a:rPr sz="1600" b="1">
                <a:solidFill>
                  <a:srgbClr val="0F1F3D"/>
                </a:solidFill>
                <a:latin typeface="Calibri"/>
              </a:rPr>
              <a:t>Frontend (React)</a:t>
            </a:r>
            <a:endParaRPr/>
          </a:p>
        </p:txBody>
      </p:sp>
      <p:sp>
        <p:nvSpPr>
          <p:cNvPr id="1503288457" name="TextBox 15"/>
          <p:cNvSpPr txBox="1"/>
          <p:nvPr/>
        </p:nvSpPr>
        <p:spPr bwMode="auto">
          <a:xfrm>
            <a:off x="3520440" y="2194560"/>
            <a:ext cx="2377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/>
            </a:pPr>
            <a:r>
              <a:rPr sz="1300">
                <a:solidFill>
                  <a:srgbClr val="555F70"/>
                </a:solidFill>
                <a:latin typeface="Calibri"/>
              </a:rPr>
              <a:t>•  Public: Home, Verify, Student view + QR</a:t>
            </a:r>
            <a:endParaRPr/>
          </a:p>
          <a:p>
            <a:pPr>
              <a:spcAft>
                <a:spcPts val="800"/>
              </a:spcAft>
              <a:defRPr/>
            </a:pPr>
            <a:r>
              <a:rPr sz="1300">
                <a:solidFill>
                  <a:srgbClr val="555F70"/>
                </a:solidFill>
                <a:latin typeface="Calibri"/>
              </a:rPr>
              <a:t>•  Admin: Dashboard, Issue, List, Detail/Revoke</a:t>
            </a:r>
            <a:endParaRPr/>
          </a:p>
          <a:p>
            <a:pPr>
              <a:spcAft>
                <a:spcPts val="800"/>
              </a:spcAft>
              <a:defRPr/>
            </a:pPr>
            <a:r>
              <a:rPr sz="1300">
                <a:solidFill>
                  <a:srgbClr val="555F70"/>
                </a:solidFill>
                <a:latin typeface="Calibri"/>
              </a:rPr>
              <a:t>•  Polygonscan links for every tx</a:t>
            </a:r>
            <a:endParaRPr/>
          </a:p>
        </p:txBody>
      </p:sp>
      <p:sp>
        <p:nvSpPr>
          <p:cNvPr id="1041425921" name="Rounded Rectangle 16"/>
          <p:cNvSpPr/>
          <p:nvPr/>
        </p:nvSpPr>
        <p:spPr bwMode="auto">
          <a:xfrm>
            <a:off x="6217920" y="1463040"/>
            <a:ext cx="2651760" cy="4480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02383107" name="Rectangle 17"/>
          <p:cNvSpPr/>
          <p:nvPr/>
        </p:nvSpPr>
        <p:spPr bwMode="auto">
          <a:xfrm>
            <a:off x="6217920" y="1463040"/>
            <a:ext cx="2651760" cy="73152"/>
          </a:xfrm>
          <a:prstGeom prst="rect">
            <a:avLst/>
          </a:prstGeom>
          <a:solidFill>
            <a:srgbClr val="7B3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4586392" name="TextBox 18"/>
          <p:cNvSpPr txBox="1"/>
          <p:nvPr/>
        </p:nvSpPr>
        <p:spPr bwMode="auto">
          <a:xfrm>
            <a:off x="6355080" y="1645920"/>
            <a:ext cx="237744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/>
            </a:pPr>
            <a:r>
              <a:rPr sz="1600" b="1">
                <a:solidFill>
                  <a:srgbClr val="0F1F3D"/>
                </a:solidFill>
                <a:latin typeface="Calibri"/>
              </a:rPr>
              <a:t>Database (Prisma)</a:t>
            </a:r>
            <a:endParaRPr/>
          </a:p>
        </p:txBody>
      </p:sp>
      <p:sp>
        <p:nvSpPr>
          <p:cNvPr id="1773073605" name="TextBox 19"/>
          <p:cNvSpPr txBox="1"/>
          <p:nvPr/>
        </p:nvSpPr>
        <p:spPr bwMode="auto">
          <a:xfrm>
            <a:off x="6355080" y="2194560"/>
            <a:ext cx="2377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/>
            </a:pPr>
            <a:r>
              <a:rPr sz="1300">
                <a:solidFill>
                  <a:srgbClr val="555F70"/>
                </a:solidFill>
                <a:latin typeface="Calibri"/>
              </a:rPr>
              <a:t>•  Admin — staff &amp; roles</a:t>
            </a:r>
            <a:endParaRPr/>
          </a:p>
          <a:p>
            <a:pPr>
              <a:spcAft>
                <a:spcPts val="800"/>
              </a:spcAft>
              <a:defRPr/>
            </a:pPr>
            <a:r>
              <a:rPr sz="1300">
                <a:solidFill>
                  <a:srgbClr val="555F70"/>
                </a:solidFill>
                <a:latin typeface="Calibri"/>
              </a:rPr>
              <a:t>•  Credential — record, hash, anchoring metadata</a:t>
            </a:r>
            <a:endParaRPr/>
          </a:p>
          <a:p>
            <a:pPr>
              <a:spcAft>
                <a:spcPts val="800"/>
              </a:spcAft>
              <a:defRPr/>
            </a:pPr>
            <a:r>
              <a:rPr sz="1300">
                <a:solidFill>
                  <a:srgbClr val="555F70"/>
                </a:solidFill>
                <a:latin typeface="Calibri"/>
              </a:rPr>
              <a:t>•  Revocation — reason, tx hash, timestamp</a:t>
            </a:r>
            <a:endParaRPr/>
          </a:p>
        </p:txBody>
      </p:sp>
      <p:sp>
        <p:nvSpPr>
          <p:cNvPr id="2004329716" name="Rounded Rectangle 20"/>
          <p:cNvSpPr/>
          <p:nvPr/>
        </p:nvSpPr>
        <p:spPr bwMode="auto">
          <a:xfrm>
            <a:off x="9052560" y="1463040"/>
            <a:ext cx="2651760" cy="4480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48556329" name="Rectangle 21"/>
          <p:cNvSpPr/>
          <p:nvPr/>
        </p:nvSpPr>
        <p:spPr bwMode="auto">
          <a:xfrm>
            <a:off x="9052560" y="1463040"/>
            <a:ext cx="2651760" cy="73152"/>
          </a:xfrm>
          <a:prstGeom prst="rect">
            <a:avLst/>
          </a:prstGeom>
          <a:solidFill>
            <a:srgbClr val="7B3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53393583" name="TextBox 22"/>
          <p:cNvSpPr txBox="1"/>
          <p:nvPr/>
        </p:nvSpPr>
        <p:spPr bwMode="auto">
          <a:xfrm>
            <a:off x="9189720" y="1645920"/>
            <a:ext cx="237744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/>
            </a:pPr>
            <a:r>
              <a:rPr sz="1600" b="1">
                <a:solidFill>
                  <a:srgbClr val="0F1F3D"/>
                </a:solidFill>
                <a:latin typeface="Calibri"/>
              </a:rPr>
              <a:t>Tooling</a:t>
            </a:r>
            <a:endParaRPr/>
          </a:p>
        </p:txBody>
      </p:sp>
      <p:sp>
        <p:nvSpPr>
          <p:cNvPr id="1712059911" name="TextBox 23"/>
          <p:cNvSpPr txBox="1"/>
          <p:nvPr/>
        </p:nvSpPr>
        <p:spPr bwMode="auto">
          <a:xfrm>
            <a:off x="9189720" y="2194560"/>
            <a:ext cx="2377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/>
            </a:pPr>
            <a:r>
              <a:rPr sz="1300">
                <a:solidFill>
                  <a:srgbClr val="555F70"/>
                </a:solidFill>
                <a:latin typeface="Calibri"/>
              </a:rPr>
              <a:t>•  Hardhat 3 tests &amp; deploy script</a:t>
            </a:r>
            <a:endParaRPr/>
          </a:p>
          <a:p>
            <a:pPr>
              <a:spcAft>
                <a:spcPts val="800"/>
              </a:spcAft>
              <a:defRPr/>
            </a:pPr>
            <a:r>
              <a:rPr sz="1300">
                <a:solidFill>
                  <a:srgbClr val="555F70"/>
                </a:solidFill>
                <a:latin typeface="Calibri"/>
              </a:rPr>
              <a:t>•  ABI/address emitted to backend + frontend</a:t>
            </a:r>
            <a:endParaRPr/>
          </a:p>
          <a:p>
            <a:pPr>
              <a:spcAft>
                <a:spcPts val="800"/>
              </a:spcAft>
              <a:defRPr/>
            </a:pPr>
            <a:r>
              <a:rPr sz="1300">
                <a:solidFill>
                  <a:srgbClr val="555F70"/>
                </a:solidFill>
                <a:latin typeface="Calibri"/>
              </a:rPr>
              <a:t>•  Docker Compose Postgres</a:t>
            </a:r>
            <a:endParaRPr/>
          </a:p>
          <a:p>
            <a:pPr>
              <a:spcAft>
                <a:spcPts val="800"/>
              </a:spcAft>
              <a:defRPr/>
            </a:pPr>
            <a:r>
              <a:rPr sz="1300">
                <a:solidFill>
                  <a:srgbClr val="555F70"/>
                </a:solidFill>
                <a:latin typeface="Calibri"/>
              </a:rPr>
              <a:t>•  Idempotent seed script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8766809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35262847" name="Rectangle 2"/>
          <p:cNvSpPr/>
          <p:nvPr/>
        </p:nvSpPr>
        <p:spPr bwMode="auto">
          <a:xfrm>
            <a:off x="0" y="0"/>
            <a:ext cx="12191695" cy="1005840"/>
          </a:xfrm>
          <a:prstGeom prst="rect">
            <a:avLst/>
          </a:prstGeom>
          <a:solidFill>
            <a:srgbClr val="0F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34161799" name="Rectangle 3"/>
          <p:cNvSpPr/>
          <p:nvPr/>
        </p:nvSpPr>
        <p:spPr bwMode="auto">
          <a:xfrm>
            <a:off x="0" y="1005840"/>
            <a:ext cx="12191695" cy="54864"/>
          </a:xfrm>
          <a:prstGeom prst="rect">
            <a:avLst/>
          </a:prstGeom>
          <a:solidFill>
            <a:srgbClr val="7B3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98813360" name="TextBox 4"/>
          <p:cNvSpPr txBox="1"/>
          <p:nvPr/>
        </p:nvSpPr>
        <p:spPr bwMode="auto">
          <a:xfrm>
            <a:off x="457200" y="0"/>
            <a:ext cx="10972800" cy="10058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defRPr/>
            </a:pPr>
            <a:r>
              <a:rPr sz="3000" b="1">
                <a:solidFill>
                  <a:srgbClr val="FFFFFF"/>
                </a:solidFill>
                <a:latin typeface="Calibri"/>
              </a:rPr>
              <a:t>Technology Stack</a:t>
            </a:r>
            <a:endParaRPr/>
          </a:p>
        </p:txBody>
      </p:sp>
      <p:sp>
        <p:nvSpPr>
          <p:cNvPr id="1628628764" name="Rectangle 5"/>
          <p:cNvSpPr/>
          <p:nvPr/>
        </p:nvSpPr>
        <p:spPr bwMode="auto">
          <a:xfrm>
            <a:off x="0" y="6537960"/>
            <a:ext cx="12191695" cy="320040"/>
          </a:xfrm>
          <a:prstGeom prst="rect">
            <a:avLst/>
          </a:prstGeom>
          <a:solidFill>
            <a:srgbClr val="0F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74640179" name="TextBox 6"/>
          <p:cNvSpPr txBox="1"/>
          <p:nvPr/>
        </p:nvSpPr>
        <p:spPr bwMode="auto">
          <a:xfrm>
            <a:off x="365760" y="6537960"/>
            <a:ext cx="822960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defRPr/>
            </a:pPr>
            <a:r>
              <a:rPr sz="1100" b="0">
                <a:solidFill>
                  <a:srgbClr val="FFFFFF"/>
                </a:solidFill>
                <a:latin typeface="Calibri"/>
              </a:rPr>
              <a:t>Blockchain-Based Academic Credentials Verification System</a:t>
            </a:r>
            <a:endParaRPr/>
          </a:p>
        </p:txBody>
      </p:sp>
      <p:sp>
        <p:nvSpPr>
          <p:cNvPr id="1135300143" name="TextBox 7"/>
          <p:cNvSpPr txBox="1"/>
          <p:nvPr/>
        </p:nvSpPr>
        <p:spPr bwMode="auto">
          <a:xfrm>
            <a:off x="10911535" y="6537960"/>
            <a:ext cx="91440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defRPr/>
            </a:pPr>
            <a:r>
              <a:rPr sz="1100" b="0">
                <a:solidFill>
                  <a:srgbClr val="FFFFFF"/>
                </a:solidFill>
                <a:latin typeface="Calibri"/>
              </a:rPr>
              <a:t>9</a:t>
            </a:r>
            <a:endParaRPr/>
          </a:p>
        </p:txBody>
      </p:sp>
      <p:graphicFrame>
        <p:nvGraphicFramePr>
          <p:cNvPr id="379200386" name="Table 8"/>
          <p:cNvGraphicFramePr>
            <a:graphicFrameLocks xmlns:a="http://schemas.openxmlformats.org/drawingml/2006/main" noGrp="1"/>
          </p:cNvGraphicFramePr>
          <p:nvPr/>
        </p:nvGraphicFramePr>
        <p:xfrm rot="0">
          <a:off x="548640" y="1371600"/>
          <a:ext cx="11064240" cy="2926080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2377440"/>
                <a:gridCol w="8686800"/>
              </a:tblGrid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  <a:endParaRPr/>
                    </a:p>
                  </a:txBody>
                  <a:tcPr marL="73152" marR="73152" marT="36576" marB="36576">
                    <a:solidFill>
                      <a:srgbClr val="0F1F3D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Technology</a:t>
                      </a:r>
                      <a:endParaRPr/>
                    </a:p>
                  </a:txBody>
                  <a:tcPr marL="73152" marR="73152" marT="36576" marB="36576">
                    <a:solidFill>
                      <a:srgbClr val="0F1F3D"/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1">
                          <a:solidFill>
                            <a:srgbClr val="0F1F3D"/>
                          </a:solidFill>
                          <a:latin typeface="Calibri"/>
                        </a:rPr>
                        <a:t>Smart contract</a:t>
                      </a:r>
                      <a:endParaRPr/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>
                          <a:solidFill>
                            <a:srgbClr val="0F1F3D"/>
                          </a:solidFill>
                          <a:latin typeface="Calibri"/>
                        </a:rPr>
                        <a:t>Solidity 0.8.28 · OpenZeppelin Contracts 5 · Hardhat 3 · Hardhat Ignition · forge-std</a:t>
                      </a:r>
                      <a:endParaRPr/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1">
                          <a:solidFill>
                            <a:srgbClr val="0F1F3D"/>
                          </a:solidFill>
                          <a:latin typeface="Calibri"/>
                        </a:rPr>
                        <a:t>Blockchain network</a:t>
                      </a:r>
                      <a:endParaRPr/>
                    </a:p>
                  </a:txBody>
                  <a:tcPr marL="73152" marR="73152" marT="36576" marB="36576">
                    <a:solidFill>
                      <a:srgbClr val="E9EDF5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>
                          <a:solidFill>
                            <a:srgbClr val="0F1F3D"/>
                          </a:solidFill>
                          <a:latin typeface="Calibri"/>
                        </a:rPr>
                        <a:t>Polygon Amoy testnet (chain ID 80002) · Hardhat local network for development</a:t>
                      </a:r>
                      <a:endParaRPr/>
                    </a:p>
                  </a:txBody>
                  <a:tcPr marL="73152" marR="73152" marT="36576" marB="36576">
                    <a:solidFill>
                      <a:srgbClr val="E9EDF5"/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1">
                          <a:solidFill>
                            <a:srgbClr val="0F1F3D"/>
                          </a:solidFill>
                          <a:latin typeface="Calibri"/>
                        </a:rPr>
                        <a:t>Backend</a:t>
                      </a:r>
                      <a:endParaRPr/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>
                          <a:solidFill>
                            <a:srgbClr val="0F1F3D"/>
                          </a:solidFill>
                          <a:latin typeface="Calibri"/>
                        </a:rPr>
                        <a:t>Node.js · NestJS 10 · TypeScript · Prisma 5 · ethers.js 6 · Passport-JWT · bcrypt</a:t>
                      </a:r>
                      <a:endParaRPr/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1">
                          <a:solidFill>
                            <a:srgbClr val="0F1F3D"/>
                          </a:solidFill>
                          <a:latin typeface="Calibri"/>
                        </a:rPr>
                        <a:t>Database</a:t>
                      </a:r>
                      <a:endParaRPr/>
                    </a:p>
                  </a:txBody>
                  <a:tcPr marL="73152" marR="73152" marT="36576" marB="36576">
                    <a:solidFill>
                      <a:srgbClr val="E9EDF5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>
                          <a:solidFill>
                            <a:srgbClr val="0F1F3D"/>
                          </a:solidFill>
                          <a:latin typeface="Calibri"/>
                        </a:rPr>
                        <a:t>PostgreSQL 16</a:t>
                      </a:r>
                      <a:endParaRPr/>
                    </a:p>
                  </a:txBody>
                  <a:tcPr marL="73152" marR="73152" marT="36576" marB="36576">
                    <a:solidFill>
                      <a:srgbClr val="E9EDF5"/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1">
                          <a:solidFill>
                            <a:srgbClr val="0F1F3D"/>
                          </a:solidFill>
                          <a:latin typeface="Calibri"/>
                        </a:rPr>
                        <a:t>Frontend</a:t>
                      </a:r>
                      <a:endParaRPr/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>
                          <a:solidFill>
                            <a:srgbClr val="0F1F3D"/>
                          </a:solidFill>
                          <a:latin typeface="Calibri"/>
                        </a:rPr>
                        <a:t>React 18 · Vite · TypeScript · Tailwind CSS · React Router · Axios · qrcode.react</a:t>
                      </a:r>
                      <a:endParaRPr/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1">
                          <a:solidFill>
                            <a:srgbClr val="0F1F3D"/>
                          </a:solidFill>
                          <a:latin typeface="Calibri"/>
                        </a:rPr>
                        <a:t>Testing</a:t>
                      </a:r>
                      <a:endParaRPr/>
                    </a:p>
                  </a:txBody>
                  <a:tcPr marL="73152" marR="73152" marT="36576" marB="36576">
                    <a:solidFill>
                      <a:srgbClr val="E9EDF5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>
                          <a:solidFill>
                            <a:srgbClr val="0F1F3D"/>
                          </a:solidFill>
                          <a:latin typeface="Calibri"/>
                        </a:rPr>
                        <a:t>Solidity unit &amp; fuzz tests · Mocha + Chai · Jest</a:t>
                      </a:r>
                      <a:endParaRPr/>
                    </a:p>
                  </a:txBody>
                  <a:tcPr marL="73152" marR="73152" marT="36576" marB="36576">
                    <a:solidFill>
                      <a:srgbClr val="E9EDF5"/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1">
                          <a:solidFill>
                            <a:srgbClr val="0F1F3D"/>
                          </a:solidFill>
                          <a:latin typeface="Calibri"/>
                        </a:rPr>
                        <a:t>Infrastructure</a:t>
                      </a:r>
                      <a:endParaRPr/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>
                          <a:solidFill>
                            <a:srgbClr val="0F1F3D"/>
                          </a:solidFill>
                          <a:latin typeface="Calibri"/>
                        </a:rPr>
                        <a:t>Docker Compose (local) · AWS (production) · Alchemy RPC · Polygonscan</a:t>
                      </a:r>
                      <a:endParaRPr/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6161158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01047860" name="Rectangle 2"/>
          <p:cNvSpPr/>
          <p:nvPr/>
        </p:nvSpPr>
        <p:spPr bwMode="auto">
          <a:xfrm>
            <a:off x="0" y="0"/>
            <a:ext cx="12191695" cy="1005840"/>
          </a:xfrm>
          <a:prstGeom prst="rect">
            <a:avLst/>
          </a:prstGeom>
          <a:solidFill>
            <a:srgbClr val="0F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88843943" name="Rectangle 3"/>
          <p:cNvSpPr/>
          <p:nvPr/>
        </p:nvSpPr>
        <p:spPr bwMode="auto">
          <a:xfrm>
            <a:off x="0" y="1005840"/>
            <a:ext cx="12191695" cy="54864"/>
          </a:xfrm>
          <a:prstGeom prst="rect">
            <a:avLst/>
          </a:prstGeom>
          <a:solidFill>
            <a:srgbClr val="7B3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6783749" name="TextBox 4"/>
          <p:cNvSpPr txBox="1"/>
          <p:nvPr/>
        </p:nvSpPr>
        <p:spPr bwMode="auto">
          <a:xfrm>
            <a:off x="457200" y="0"/>
            <a:ext cx="10972800" cy="10058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defRPr/>
            </a:pPr>
            <a:r>
              <a:rPr sz="3000" b="1">
                <a:solidFill>
                  <a:srgbClr val="FFFFFF"/>
                </a:solidFill>
                <a:latin typeface="Calibri"/>
              </a:rPr>
              <a:t>Verification Flow</a:t>
            </a:r>
            <a:endParaRPr/>
          </a:p>
        </p:txBody>
      </p:sp>
      <p:sp>
        <p:nvSpPr>
          <p:cNvPr id="983076521" name="Rectangle 5"/>
          <p:cNvSpPr/>
          <p:nvPr/>
        </p:nvSpPr>
        <p:spPr bwMode="auto">
          <a:xfrm>
            <a:off x="0" y="6537960"/>
            <a:ext cx="12191695" cy="320040"/>
          </a:xfrm>
          <a:prstGeom prst="rect">
            <a:avLst/>
          </a:prstGeom>
          <a:solidFill>
            <a:srgbClr val="0F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03319568" name="TextBox 6"/>
          <p:cNvSpPr txBox="1"/>
          <p:nvPr/>
        </p:nvSpPr>
        <p:spPr bwMode="auto">
          <a:xfrm>
            <a:off x="365760" y="6537960"/>
            <a:ext cx="822960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defRPr/>
            </a:pPr>
            <a:r>
              <a:rPr sz="1100" b="0">
                <a:solidFill>
                  <a:srgbClr val="FFFFFF"/>
                </a:solidFill>
                <a:latin typeface="Calibri"/>
              </a:rPr>
              <a:t>Blockchain-Based Academic Credentials Verification System</a:t>
            </a:r>
            <a:endParaRPr/>
          </a:p>
        </p:txBody>
      </p:sp>
      <p:sp>
        <p:nvSpPr>
          <p:cNvPr id="1528417226" name="TextBox 7"/>
          <p:cNvSpPr txBox="1"/>
          <p:nvPr/>
        </p:nvSpPr>
        <p:spPr bwMode="auto">
          <a:xfrm>
            <a:off x="10911535" y="6537960"/>
            <a:ext cx="91440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defRPr/>
            </a:pPr>
            <a:r>
              <a:rPr sz="1100" b="0">
                <a:solidFill>
                  <a:srgbClr val="FFFFFF"/>
                </a:solidFill>
                <a:latin typeface="Calibri"/>
              </a:rPr>
              <a:t>10</a:t>
            </a:r>
            <a:endParaRPr/>
          </a:p>
        </p:txBody>
      </p:sp>
      <p:sp>
        <p:nvSpPr>
          <p:cNvPr id="956329307" name="Oval 8"/>
          <p:cNvSpPr/>
          <p:nvPr/>
        </p:nvSpPr>
        <p:spPr bwMode="auto">
          <a:xfrm>
            <a:off x="731520" y="1371600"/>
            <a:ext cx="548640" cy="548640"/>
          </a:xfrm>
          <a:prstGeom prst="ellipse">
            <a:avLst/>
          </a:prstGeom>
          <a:solidFill>
            <a:srgbClr val="7B3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90147880" name="TextBox 9"/>
          <p:cNvSpPr txBox="1"/>
          <p:nvPr/>
        </p:nvSpPr>
        <p:spPr bwMode="auto">
          <a:xfrm>
            <a:off x="731520" y="1371600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/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  <a:endParaRPr/>
          </a:p>
        </p:txBody>
      </p:sp>
      <p:sp>
        <p:nvSpPr>
          <p:cNvPr id="868117092" name="TextBox 10"/>
          <p:cNvSpPr txBox="1"/>
          <p:nvPr/>
        </p:nvSpPr>
        <p:spPr bwMode="auto">
          <a:xfrm>
            <a:off x="1463040" y="1371600"/>
            <a:ext cx="530352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defRPr/>
            </a:pPr>
            <a:r>
              <a:rPr sz="1700" b="0">
                <a:solidFill>
                  <a:srgbClr val="0F1F3D"/>
                </a:solidFill>
                <a:latin typeface="Calibri"/>
              </a:rPr>
              <a:t>Verifier enters credential ID or scans QR</a:t>
            </a:r>
            <a:endParaRPr/>
          </a:p>
        </p:txBody>
      </p:sp>
      <p:sp>
        <p:nvSpPr>
          <p:cNvPr id="815146399" name="Oval 11"/>
          <p:cNvSpPr/>
          <p:nvPr/>
        </p:nvSpPr>
        <p:spPr bwMode="auto">
          <a:xfrm>
            <a:off x="731520" y="2148840"/>
            <a:ext cx="548640" cy="548640"/>
          </a:xfrm>
          <a:prstGeom prst="ellipse">
            <a:avLst/>
          </a:prstGeom>
          <a:solidFill>
            <a:srgbClr val="7B3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6771769" name="TextBox 12"/>
          <p:cNvSpPr txBox="1"/>
          <p:nvPr/>
        </p:nvSpPr>
        <p:spPr bwMode="auto">
          <a:xfrm>
            <a:off x="731520" y="2148840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/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  <a:endParaRPr/>
          </a:p>
        </p:txBody>
      </p:sp>
      <p:sp>
        <p:nvSpPr>
          <p:cNvPr id="1980446646" name="TextBox 13"/>
          <p:cNvSpPr txBox="1"/>
          <p:nvPr/>
        </p:nvSpPr>
        <p:spPr bwMode="auto">
          <a:xfrm>
            <a:off x="1463040" y="2148840"/>
            <a:ext cx="530352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defRPr/>
            </a:pPr>
            <a:r>
              <a:rPr sz="1700" b="0">
                <a:solidFill>
                  <a:srgbClr val="0F1F3D"/>
                </a:solidFill>
                <a:latin typeface="Calibri"/>
              </a:rPr>
              <a:t>Backend loads record from PostgreSQL</a:t>
            </a:r>
            <a:endParaRPr/>
          </a:p>
        </p:txBody>
      </p:sp>
      <p:sp>
        <p:nvSpPr>
          <p:cNvPr id="76472785" name="Oval 14"/>
          <p:cNvSpPr/>
          <p:nvPr/>
        </p:nvSpPr>
        <p:spPr bwMode="auto">
          <a:xfrm>
            <a:off x="731520" y="2926080"/>
            <a:ext cx="548640" cy="548640"/>
          </a:xfrm>
          <a:prstGeom prst="ellipse">
            <a:avLst/>
          </a:prstGeom>
          <a:solidFill>
            <a:srgbClr val="7B3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42852641" name="TextBox 15"/>
          <p:cNvSpPr txBox="1"/>
          <p:nvPr/>
        </p:nvSpPr>
        <p:spPr bwMode="auto">
          <a:xfrm>
            <a:off x="731520" y="2926080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/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  <a:endParaRPr/>
          </a:p>
        </p:txBody>
      </p:sp>
      <p:sp>
        <p:nvSpPr>
          <p:cNvPr id="1139092363" name="TextBox 16"/>
          <p:cNvSpPr txBox="1"/>
          <p:nvPr/>
        </p:nvSpPr>
        <p:spPr bwMode="auto">
          <a:xfrm>
            <a:off x="1463040" y="2926080"/>
            <a:ext cx="530352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defRPr/>
            </a:pPr>
            <a:r>
              <a:rPr sz="1700" b="0">
                <a:solidFill>
                  <a:srgbClr val="0F1F3D"/>
                </a:solidFill>
                <a:latin typeface="Calibri"/>
              </a:rPr>
              <a:t>Recomputes keccak256 of canonical fields</a:t>
            </a:r>
            <a:endParaRPr/>
          </a:p>
        </p:txBody>
      </p:sp>
      <p:sp>
        <p:nvSpPr>
          <p:cNvPr id="1159085441" name="Oval 17"/>
          <p:cNvSpPr/>
          <p:nvPr/>
        </p:nvSpPr>
        <p:spPr bwMode="auto">
          <a:xfrm>
            <a:off x="731520" y="3703320"/>
            <a:ext cx="548640" cy="548640"/>
          </a:xfrm>
          <a:prstGeom prst="ellipse">
            <a:avLst/>
          </a:prstGeom>
          <a:solidFill>
            <a:srgbClr val="7B3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25925899" name="TextBox 18"/>
          <p:cNvSpPr txBox="1"/>
          <p:nvPr/>
        </p:nvSpPr>
        <p:spPr bwMode="auto">
          <a:xfrm>
            <a:off x="731520" y="3703320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/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  <a:endParaRPr/>
          </a:p>
        </p:txBody>
      </p:sp>
      <p:sp>
        <p:nvSpPr>
          <p:cNvPr id="1997660718" name="TextBox 19"/>
          <p:cNvSpPr txBox="1"/>
          <p:nvPr/>
        </p:nvSpPr>
        <p:spPr bwMode="auto">
          <a:xfrm>
            <a:off x="1463040" y="3703320"/>
            <a:ext cx="530352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defRPr/>
            </a:pPr>
            <a:r>
              <a:rPr sz="1700" b="0">
                <a:solidFill>
                  <a:srgbClr val="0F1F3D"/>
                </a:solidFill>
                <a:latin typeface="Calibri"/>
              </a:rPr>
              <a:t>Reads on-chain record via verifyCredential()</a:t>
            </a:r>
            <a:endParaRPr/>
          </a:p>
        </p:txBody>
      </p:sp>
      <p:sp>
        <p:nvSpPr>
          <p:cNvPr id="1812829592" name="Oval 20"/>
          <p:cNvSpPr/>
          <p:nvPr/>
        </p:nvSpPr>
        <p:spPr bwMode="auto">
          <a:xfrm>
            <a:off x="731520" y="4480560"/>
            <a:ext cx="548640" cy="548640"/>
          </a:xfrm>
          <a:prstGeom prst="ellipse">
            <a:avLst/>
          </a:prstGeom>
          <a:solidFill>
            <a:srgbClr val="7B3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97127613" name="TextBox 21"/>
          <p:cNvSpPr txBox="1"/>
          <p:nvPr/>
        </p:nvSpPr>
        <p:spPr bwMode="auto">
          <a:xfrm>
            <a:off x="731520" y="4480560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/>
            </a:pPr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  <a:endParaRPr/>
          </a:p>
        </p:txBody>
      </p:sp>
      <p:sp>
        <p:nvSpPr>
          <p:cNvPr id="384694196" name="TextBox 22"/>
          <p:cNvSpPr txBox="1"/>
          <p:nvPr/>
        </p:nvSpPr>
        <p:spPr bwMode="auto">
          <a:xfrm>
            <a:off x="1463040" y="4480560"/>
            <a:ext cx="530352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defRPr/>
            </a:pPr>
            <a:r>
              <a:rPr sz="1700" b="0">
                <a:solidFill>
                  <a:srgbClr val="0F1F3D"/>
                </a:solidFill>
                <a:latin typeface="Calibri"/>
              </a:rPr>
              <a:t>Compares hashes + revocation status</a:t>
            </a:r>
            <a:endParaRPr/>
          </a:p>
        </p:txBody>
      </p:sp>
      <p:sp>
        <p:nvSpPr>
          <p:cNvPr id="1836663311" name="Rounded Rectangle 23"/>
          <p:cNvSpPr/>
          <p:nvPr/>
        </p:nvSpPr>
        <p:spPr bwMode="auto">
          <a:xfrm>
            <a:off x="6949440" y="1463040"/>
            <a:ext cx="4663440" cy="868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05249094" name="Rectangle 24"/>
          <p:cNvSpPr/>
          <p:nvPr/>
        </p:nvSpPr>
        <p:spPr bwMode="auto">
          <a:xfrm>
            <a:off x="6949440" y="1463040"/>
            <a:ext cx="137160" cy="868680"/>
          </a:xfrm>
          <a:prstGeom prst="rect">
            <a:avLst/>
          </a:prstGeom>
          <a:solidFill>
            <a:srgbClr val="1E9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8478967" name="TextBox 25"/>
          <p:cNvSpPr txBox="1"/>
          <p:nvPr/>
        </p:nvSpPr>
        <p:spPr bwMode="auto">
          <a:xfrm>
            <a:off x="7223760" y="1508759"/>
            <a:ext cx="42976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/>
            </a:pPr>
            <a:r>
              <a:rPr sz="1600" b="1">
                <a:solidFill>
                  <a:srgbClr val="1E9E5A"/>
                </a:solidFill>
                <a:latin typeface="Calibri"/>
              </a:rPr>
              <a:t>VALID</a:t>
            </a:r>
            <a:endParaRPr/>
          </a:p>
        </p:txBody>
      </p:sp>
      <p:sp>
        <p:nvSpPr>
          <p:cNvPr id="642528640" name="TextBox 26"/>
          <p:cNvSpPr txBox="1"/>
          <p:nvPr/>
        </p:nvSpPr>
        <p:spPr bwMode="auto">
          <a:xfrm>
            <a:off x="7223760" y="1874520"/>
            <a:ext cx="42976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/>
            </a:pPr>
            <a:r>
              <a:rPr sz="1300" b="0">
                <a:solidFill>
                  <a:srgbClr val="555F70"/>
                </a:solidFill>
                <a:latin typeface="Calibri"/>
              </a:rPr>
              <a:t>Exists, not revoked, DB hash = chain hash</a:t>
            </a:r>
            <a:endParaRPr/>
          </a:p>
        </p:txBody>
      </p:sp>
      <p:sp>
        <p:nvSpPr>
          <p:cNvPr id="463355910" name="Rounded Rectangle 27"/>
          <p:cNvSpPr/>
          <p:nvPr/>
        </p:nvSpPr>
        <p:spPr bwMode="auto">
          <a:xfrm>
            <a:off x="6949440" y="2514600"/>
            <a:ext cx="4663440" cy="868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26295507" name="Rectangle 28"/>
          <p:cNvSpPr/>
          <p:nvPr/>
        </p:nvSpPr>
        <p:spPr bwMode="auto">
          <a:xfrm>
            <a:off x="6949440" y="2514600"/>
            <a:ext cx="137160" cy="868680"/>
          </a:xfrm>
          <a:prstGeom prst="rect">
            <a:avLst/>
          </a:prstGeom>
          <a:solidFill>
            <a:srgbClr val="C6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0486237" name="TextBox 29"/>
          <p:cNvSpPr txBox="1"/>
          <p:nvPr/>
        </p:nvSpPr>
        <p:spPr bwMode="auto">
          <a:xfrm>
            <a:off x="7223760" y="2560320"/>
            <a:ext cx="42976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/>
            </a:pPr>
            <a:r>
              <a:rPr sz="1600" b="1">
                <a:solidFill>
                  <a:srgbClr val="C62F2F"/>
                </a:solidFill>
                <a:latin typeface="Calibri"/>
              </a:rPr>
              <a:t>REVOKED</a:t>
            </a:r>
            <a:endParaRPr/>
          </a:p>
        </p:txBody>
      </p:sp>
      <p:sp>
        <p:nvSpPr>
          <p:cNvPr id="540898709" name="TextBox 30"/>
          <p:cNvSpPr txBox="1"/>
          <p:nvPr/>
        </p:nvSpPr>
        <p:spPr bwMode="auto">
          <a:xfrm>
            <a:off x="7223760" y="2926080"/>
            <a:ext cx="42976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/>
            </a:pPr>
            <a:r>
              <a:rPr sz="1300" b="0">
                <a:solidFill>
                  <a:srgbClr val="555F70"/>
                </a:solidFill>
                <a:latin typeface="Calibri"/>
              </a:rPr>
              <a:t>Revoked in DB or on-chain; reason + tx shown</a:t>
            </a:r>
            <a:endParaRPr/>
          </a:p>
        </p:txBody>
      </p:sp>
      <p:sp>
        <p:nvSpPr>
          <p:cNvPr id="852796612" name="Rounded Rectangle 31"/>
          <p:cNvSpPr/>
          <p:nvPr/>
        </p:nvSpPr>
        <p:spPr bwMode="auto">
          <a:xfrm>
            <a:off x="6949440" y="3566160"/>
            <a:ext cx="4663440" cy="868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46341852" name="Rectangle 32"/>
          <p:cNvSpPr/>
          <p:nvPr/>
        </p:nvSpPr>
        <p:spPr bwMode="auto">
          <a:xfrm>
            <a:off x="6949440" y="3566160"/>
            <a:ext cx="137160" cy="868680"/>
          </a:xfrm>
          <a:prstGeom prst="rect">
            <a:avLst/>
          </a:prstGeom>
          <a:solidFill>
            <a:srgbClr val="555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00426482" name="TextBox 33"/>
          <p:cNvSpPr txBox="1"/>
          <p:nvPr/>
        </p:nvSpPr>
        <p:spPr bwMode="auto">
          <a:xfrm>
            <a:off x="7223760" y="3611880"/>
            <a:ext cx="42976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/>
            </a:pPr>
            <a:r>
              <a:rPr sz="1600" b="1">
                <a:solidFill>
                  <a:srgbClr val="555F70"/>
                </a:solidFill>
                <a:latin typeface="Calibri"/>
              </a:rPr>
              <a:t>NOT FOUND</a:t>
            </a:r>
            <a:endParaRPr/>
          </a:p>
        </p:txBody>
      </p:sp>
      <p:sp>
        <p:nvSpPr>
          <p:cNvPr id="1290791722" name="TextBox 34"/>
          <p:cNvSpPr txBox="1"/>
          <p:nvPr/>
        </p:nvSpPr>
        <p:spPr bwMode="auto">
          <a:xfrm>
            <a:off x="7223760" y="3977640"/>
            <a:ext cx="42976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/>
            </a:pPr>
            <a:r>
              <a:rPr sz="1300" b="0">
                <a:solidFill>
                  <a:srgbClr val="555F70"/>
                </a:solidFill>
                <a:latin typeface="Calibri"/>
              </a:rPr>
              <a:t>No record with this ID</a:t>
            </a:r>
            <a:endParaRPr/>
          </a:p>
        </p:txBody>
      </p:sp>
      <p:sp>
        <p:nvSpPr>
          <p:cNvPr id="1004282619" name="Rounded Rectangle 35"/>
          <p:cNvSpPr/>
          <p:nvPr/>
        </p:nvSpPr>
        <p:spPr bwMode="auto">
          <a:xfrm>
            <a:off x="6949440" y="4617720"/>
            <a:ext cx="4663440" cy="868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63011149" name="Rectangle 36"/>
          <p:cNvSpPr/>
          <p:nvPr/>
        </p:nvSpPr>
        <p:spPr bwMode="auto">
          <a:xfrm>
            <a:off x="6949440" y="4617720"/>
            <a:ext cx="137160" cy="868680"/>
          </a:xfrm>
          <a:prstGeom prst="rect">
            <a:avLst/>
          </a:prstGeom>
          <a:solidFill>
            <a:srgbClr val="D9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04532240" name="TextBox 37"/>
          <p:cNvSpPr txBox="1"/>
          <p:nvPr/>
        </p:nvSpPr>
        <p:spPr bwMode="auto">
          <a:xfrm>
            <a:off x="7223760" y="4663440"/>
            <a:ext cx="42976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/>
            </a:pPr>
            <a:r>
              <a:rPr sz="1600" b="1">
                <a:solidFill>
                  <a:srgbClr val="D97A00"/>
                </a:solidFill>
                <a:latin typeface="Calibri"/>
              </a:rPr>
              <a:t>TAMPERED</a:t>
            </a:r>
            <a:endParaRPr/>
          </a:p>
        </p:txBody>
      </p:sp>
      <p:sp>
        <p:nvSpPr>
          <p:cNvPr id="433384084" name="TextBox 38"/>
          <p:cNvSpPr txBox="1"/>
          <p:nvPr/>
        </p:nvSpPr>
        <p:spPr bwMode="auto">
          <a:xfrm>
            <a:off x="7223760" y="5029200"/>
            <a:ext cx="42976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/>
            </a:pPr>
            <a:r>
              <a:rPr sz="1300" b="0">
                <a:solidFill>
                  <a:srgbClr val="555F70"/>
                </a:solidFill>
                <a:latin typeface="Calibri"/>
              </a:rPr>
              <a:t>Hash mismatch → integrity flag raised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8029171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18906482" name="Rectangle 2"/>
          <p:cNvSpPr/>
          <p:nvPr/>
        </p:nvSpPr>
        <p:spPr bwMode="auto">
          <a:xfrm>
            <a:off x="0" y="0"/>
            <a:ext cx="12191695" cy="1005840"/>
          </a:xfrm>
          <a:prstGeom prst="rect">
            <a:avLst/>
          </a:prstGeom>
          <a:solidFill>
            <a:srgbClr val="0F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78354042" name="Rectangle 3"/>
          <p:cNvSpPr/>
          <p:nvPr/>
        </p:nvSpPr>
        <p:spPr bwMode="auto">
          <a:xfrm>
            <a:off x="0" y="1005840"/>
            <a:ext cx="12191695" cy="54864"/>
          </a:xfrm>
          <a:prstGeom prst="rect">
            <a:avLst/>
          </a:prstGeom>
          <a:solidFill>
            <a:srgbClr val="7B3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11170850" name="TextBox 4"/>
          <p:cNvSpPr txBox="1"/>
          <p:nvPr/>
        </p:nvSpPr>
        <p:spPr bwMode="auto">
          <a:xfrm>
            <a:off x="457200" y="0"/>
            <a:ext cx="10972800" cy="10058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defRPr/>
            </a:pPr>
            <a:r>
              <a:rPr sz="3000" b="1">
                <a:solidFill>
                  <a:srgbClr val="FFFFFF"/>
                </a:solidFill>
                <a:latin typeface="Calibri"/>
              </a:rPr>
              <a:t>Methodology</a:t>
            </a:r>
            <a:endParaRPr/>
          </a:p>
        </p:txBody>
      </p:sp>
      <p:sp>
        <p:nvSpPr>
          <p:cNvPr id="831741927" name="Rectangle 5"/>
          <p:cNvSpPr/>
          <p:nvPr/>
        </p:nvSpPr>
        <p:spPr bwMode="auto">
          <a:xfrm>
            <a:off x="0" y="6537960"/>
            <a:ext cx="12191695" cy="320040"/>
          </a:xfrm>
          <a:prstGeom prst="rect">
            <a:avLst/>
          </a:prstGeom>
          <a:solidFill>
            <a:srgbClr val="0F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15556002" name="TextBox 6"/>
          <p:cNvSpPr txBox="1"/>
          <p:nvPr/>
        </p:nvSpPr>
        <p:spPr bwMode="auto">
          <a:xfrm>
            <a:off x="365760" y="6537960"/>
            <a:ext cx="822960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defRPr/>
            </a:pPr>
            <a:r>
              <a:rPr sz="1100" b="0">
                <a:solidFill>
                  <a:srgbClr val="FFFFFF"/>
                </a:solidFill>
                <a:latin typeface="Calibri"/>
              </a:rPr>
              <a:t>Blockchain-Based Academic Credentials Verification System</a:t>
            </a:r>
            <a:endParaRPr/>
          </a:p>
        </p:txBody>
      </p:sp>
      <p:sp>
        <p:nvSpPr>
          <p:cNvPr id="389625799" name="TextBox 7"/>
          <p:cNvSpPr txBox="1"/>
          <p:nvPr/>
        </p:nvSpPr>
        <p:spPr bwMode="auto">
          <a:xfrm>
            <a:off x="10911535" y="6537960"/>
            <a:ext cx="91440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defRPr/>
            </a:pPr>
            <a:r>
              <a:rPr sz="1100" b="0">
                <a:solidFill>
                  <a:srgbClr val="FFFFFF"/>
                </a:solidFill>
                <a:latin typeface="Calibri"/>
              </a:rPr>
              <a:t>11</a:t>
            </a:r>
            <a:endParaRPr/>
          </a:p>
        </p:txBody>
      </p:sp>
      <p:sp>
        <p:nvSpPr>
          <p:cNvPr id="180973090" name="Rounded Rectangle 8"/>
          <p:cNvSpPr/>
          <p:nvPr/>
        </p:nvSpPr>
        <p:spPr bwMode="auto">
          <a:xfrm>
            <a:off x="457200" y="2103120"/>
            <a:ext cx="1280160" cy="1280160"/>
          </a:xfrm>
          <a:prstGeom prst="roundRect">
            <a:avLst>
              <a:gd name="adj" fmla="val 16667"/>
            </a:avLst>
          </a:prstGeom>
          <a:solidFill>
            <a:srgbClr val="0F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88853168" name="TextBox 9"/>
          <p:cNvSpPr txBox="1"/>
          <p:nvPr/>
        </p:nvSpPr>
        <p:spPr bwMode="auto">
          <a:xfrm>
            <a:off x="457200" y="2103120"/>
            <a:ext cx="1280160" cy="12801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/>
            </a:pPr>
            <a:r>
              <a:rPr sz="1200" b="1">
                <a:solidFill>
                  <a:srgbClr val="FFFFFF"/>
                </a:solidFill>
                <a:latin typeface="Calibri"/>
              </a:rPr>
              <a:t>Requirement</a:t>
            </a:r>
            <a:br>
              <a:rPr sz="1200" b="1">
                <a:solidFill>
                  <a:srgbClr val="FFFFFF"/>
                </a:solidFill>
                <a:latin typeface="Calibri"/>
              </a:rPr>
            </a:br>
            <a:r>
              <a:rPr sz="1200" b="1">
                <a:solidFill>
                  <a:srgbClr val="FFFFFF"/>
                </a:solidFill>
                <a:latin typeface="Calibri"/>
              </a:rPr>
              <a:t>analysis</a:t>
            </a:r>
            <a:endParaRPr/>
          </a:p>
        </p:txBody>
      </p:sp>
      <p:sp>
        <p:nvSpPr>
          <p:cNvPr id="1235150896" name="TextBox 10"/>
          <p:cNvSpPr txBox="1"/>
          <p:nvPr/>
        </p:nvSpPr>
        <p:spPr bwMode="auto">
          <a:xfrm>
            <a:off x="1691640" y="2377440"/>
            <a:ext cx="27432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/>
            </a:pPr>
            <a:r>
              <a:rPr sz="2600" b="0">
                <a:solidFill>
                  <a:srgbClr val="555F70"/>
                </a:solidFill>
                <a:latin typeface="Calibri"/>
              </a:rPr>
              <a:t>›</a:t>
            </a:r>
            <a:endParaRPr/>
          </a:p>
        </p:txBody>
      </p:sp>
      <p:sp>
        <p:nvSpPr>
          <p:cNvPr id="1165428646" name="Rounded Rectangle 11"/>
          <p:cNvSpPr/>
          <p:nvPr/>
        </p:nvSpPr>
        <p:spPr bwMode="auto">
          <a:xfrm>
            <a:off x="1874519" y="2103120"/>
            <a:ext cx="1280160" cy="1280160"/>
          </a:xfrm>
          <a:prstGeom prst="roundRect">
            <a:avLst>
              <a:gd name="adj" fmla="val 16667"/>
            </a:avLst>
          </a:prstGeom>
          <a:solidFill>
            <a:srgbClr val="7B3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02998924" name="TextBox 12"/>
          <p:cNvSpPr txBox="1"/>
          <p:nvPr/>
        </p:nvSpPr>
        <p:spPr bwMode="auto">
          <a:xfrm>
            <a:off x="1874519" y="2103120"/>
            <a:ext cx="1280160" cy="12801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/>
            </a:pPr>
            <a:r>
              <a:rPr sz="1200" b="1">
                <a:solidFill>
                  <a:srgbClr val="FFFFFF"/>
                </a:solidFill>
                <a:latin typeface="Calibri"/>
              </a:rPr>
              <a:t>Design</a:t>
            </a:r>
            <a:endParaRPr/>
          </a:p>
        </p:txBody>
      </p:sp>
      <p:sp>
        <p:nvSpPr>
          <p:cNvPr id="2111052879" name="TextBox 13"/>
          <p:cNvSpPr txBox="1"/>
          <p:nvPr/>
        </p:nvSpPr>
        <p:spPr bwMode="auto">
          <a:xfrm>
            <a:off x="3108959" y="2377440"/>
            <a:ext cx="27432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/>
            </a:pPr>
            <a:r>
              <a:rPr sz="2600" b="0">
                <a:solidFill>
                  <a:srgbClr val="555F70"/>
                </a:solidFill>
                <a:latin typeface="Calibri"/>
              </a:rPr>
              <a:t>›</a:t>
            </a:r>
            <a:endParaRPr/>
          </a:p>
        </p:txBody>
      </p:sp>
      <p:sp>
        <p:nvSpPr>
          <p:cNvPr id="1405275991" name="Rounded Rectangle 14"/>
          <p:cNvSpPr/>
          <p:nvPr/>
        </p:nvSpPr>
        <p:spPr bwMode="auto">
          <a:xfrm>
            <a:off x="3291840" y="2103120"/>
            <a:ext cx="1280160" cy="1280160"/>
          </a:xfrm>
          <a:prstGeom prst="roundRect">
            <a:avLst>
              <a:gd name="adj" fmla="val 16667"/>
            </a:avLst>
          </a:prstGeom>
          <a:solidFill>
            <a:srgbClr val="0F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80260913" name="TextBox 15"/>
          <p:cNvSpPr txBox="1"/>
          <p:nvPr/>
        </p:nvSpPr>
        <p:spPr bwMode="auto">
          <a:xfrm>
            <a:off x="3291840" y="2103120"/>
            <a:ext cx="1280160" cy="12801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/>
            </a:pPr>
            <a:r>
              <a:rPr sz="1200" b="1">
                <a:solidFill>
                  <a:srgbClr val="FFFFFF"/>
                </a:solidFill>
                <a:latin typeface="Calibri"/>
              </a:rPr>
              <a:t>Smart contract</a:t>
            </a:r>
            <a:br>
              <a:rPr sz="1200" b="1">
                <a:solidFill>
                  <a:srgbClr val="FFFFFF"/>
                </a:solidFill>
                <a:latin typeface="Calibri"/>
              </a:rPr>
            </a:br>
            <a:r>
              <a:rPr sz="1200" b="1">
                <a:solidFill>
                  <a:srgbClr val="FFFFFF"/>
                </a:solidFill>
                <a:latin typeface="Calibri"/>
              </a:rPr>
              <a:t>+ tests</a:t>
            </a:r>
            <a:endParaRPr/>
          </a:p>
        </p:txBody>
      </p:sp>
      <p:sp>
        <p:nvSpPr>
          <p:cNvPr id="1271563000" name="TextBox 16"/>
          <p:cNvSpPr txBox="1"/>
          <p:nvPr/>
        </p:nvSpPr>
        <p:spPr bwMode="auto">
          <a:xfrm>
            <a:off x="4526280" y="2377440"/>
            <a:ext cx="27432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/>
            </a:pPr>
            <a:r>
              <a:rPr sz="2600" b="0">
                <a:solidFill>
                  <a:srgbClr val="555F70"/>
                </a:solidFill>
                <a:latin typeface="Calibri"/>
              </a:rPr>
              <a:t>›</a:t>
            </a:r>
            <a:endParaRPr/>
          </a:p>
        </p:txBody>
      </p:sp>
      <p:sp>
        <p:nvSpPr>
          <p:cNvPr id="1416257279" name="Rounded Rectangle 17"/>
          <p:cNvSpPr/>
          <p:nvPr/>
        </p:nvSpPr>
        <p:spPr bwMode="auto">
          <a:xfrm>
            <a:off x="4709160" y="2103120"/>
            <a:ext cx="1280160" cy="1280160"/>
          </a:xfrm>
          <a:prstGeom prst="roundRect">
            <a:avLst>
              <a:gd name="adj" fmla="val 16667"/>
            </a:avLst>
          </a:prstGeom>
          <a:solidFill>
            <a:srgbClr val="7B3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9899751" name="TextBox 18"/>
          <p:cNvSpPr txBox="1"/>
          <p:nvPr/>
        </p:nvSpPr>
        <p:spPr bwMode="auto">
          <a:xfrm>
            <a:off x="4709160" y="2103120"/>
            <a:ext cx="1280160" cy="12801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/>
            </a:pPr>
            <a:r>
              <a:rPr sz="1200" b="1">
                <a:solidFill>
                  <a:srgbClr val="FFFFFF"/>
                </a:solidFill>
                <a:latin typeface="Calibri"/>
              </a:rPr>
              <a:t>Backend</a:t>
            </a:r>
            <a:br>
              <a:rPr sz="1200" b="1">
                <a:solidFill>
                  <a:srgbClr val="FFFFFF"/>
                </a:solidFill>
                <a:latin typeface="Calibri"/>
              </a:rPr>
            </a:br>
            <a:r>
              <a:rPr sz="1200" b="1">
                <a:solidFill>
                  <a:srgbClr val="FFFFFF"/>
                </a:solidFill>
                <a:latin typeface="Calibri"/>
              </a:rPr>
              <a:t>+ integration</a:t>
            </a:r>
            <a:endParaRPr/>
          </a:p>
        </p:txBody>
      </p:sp>
      <p:sp>
        <p:nvSpPr>
          <p:cNvPr id="1027451323" name="TextBox 19"/>
          <p:cNvSpPr txBox="1"/>
          <p:nvPr/>
        </p:nvSpPr>
        <p:spPr bwMode="auto">
          <a:xfrm>
            <a:off x="5943600" y="2377440"/>
            <a:ext cx="27432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/>
            </a:pPr>
            <a:r>
              <a:rPr sz="2600" b="0">
                <a:solidFill>
                  <a:srgbClr val="555F70"/>
                </a:solidFill>
                <a:latin typeface="Calibri"/>
              </a:rPr>
              <a:t>›</a:t>
            </a:r>
            <a:endParaRPr/>
          </a:p>
        </p:txBody>
      </p:sp>
      <p:sp>
        <p:nvSpPr>
          <p:cNvPr id="1881411302" name="Rounded Rectangle 20"/>
          <p:cNvSpPr/>
          <p:nvPr/>
        </p:nvSpPr>
        <p:spPr bwMode="auto">
          <a:xfrm>
            <a:off x="6126480" y="2103120"/>
            <a:ext cx="1280160" cy="1280160"/>
          </a:xfrm>
          <a:prstGeom prst="roundRect">
            <a:avLst>
              <a:gd name="adj" fmla="val 16667"/>
            </a:avLst>
          </a:prstGeom>
          <a:solidFill>
            <a:srgbClr val="0F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10613893" name="TextBox 21"/>
          <p:cNvSpPr txBox="1"/>
          <p:nvPr/>
        </p:nvSpPr>
        <p:spPr bwMode="auto">
          <a:xfrm>
            <a:off x="6126480" y="2103120"/>
            <a:ext cx="1280160" cy="12801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/>
            </a:pPr>
            <a:r>
              <a:rPr sz="1200" b="1">
                <a:solidFill>
                  <a:srgbClr val="FFFFFF"/>
                </a:solidFill>
                <a:latin typeface="Calibri"/>
              </a:rPr>
              <a:t>Frontend</a:t>
            </a:r>
            <a:endParaRPr/>
          </a:p>
        </p:txBody>
      </p:sp>
      <p:sp>
        <p:nvSpPr>
          <p:cNvPr id="653411231" name="TextBox 22"/>
          <p:cNvSpPr txBox="1"/>
          <p:nvPr/>
        </p:nvSpPr>
        <p:spPr bwMode="auto">
          <a:xfrm>
            <a:off x="7360920" y="2377440"/>
            <a:ext cx="27432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/>
            </a:pPr>
            <a:r>
              <a:rPr sz="2600" b="0">
                <a:solidFill>
                  <a:srgbClr val="555F70"/>
                </a:solidFill>
                <a:latin typeface="Calibri"/>
              </a:rPr>
              <a:t>›</a:t>
            </a:r>
            <a:endParaRPr/>
          </a:p>
        </p:txBody>
      </p:sp>
      <p:sp>
        <p:nvSpPr>
          <p:cNvPr id="1423168878" name="Rounded Rectangle 23"/>
          <p:cNvSpPr/>
          <p:nvPr/>
        </p:nvSpPr>
        <p:spPr bwMode="auto">
          <a:xfrm>
            <a:off x="7543800" y="2103120"/>
            <a:ext cx="1280160" cy="1280160"/>
          </a:xfrm>
          <a:prstGeom prst="roundRect">
            <a:avLst>
              <a:gd name="adj" fmla="val 16667"/>
            </a:avLst>
          </a:prstGeom>
          <a:solidFill>
            <a:srgbClr val="7B3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07045079" name="TextBox 24"/>
          <p:cNvSpPr txBox="1"/>
          <p:nvPr/>
        </p:nvSpPr>
        <p:spPr bwMode="auto">
          <a:xfrm>
            <a:off x="7543800" y="2103120"/>
            <a:ext cx="1280160" cy="12801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/>
            </a:pPr>
            <a:r>
              <a:rPr sz="1200" b="1">
                <a:solidFill>
                  <a:srgbClr val="FFFFFF"/>
                </a:solidFill>
                <a:latin typeface="Calibri"/>
              </a:rPr>
              <a:t>Integration</a:t>
            </a:r>
            <a:br>
              <a:rPr sz="1200" b="1">
                <a:solidFill>
                  <a:srgbClr val="FFFFFF"/>
                </a:solidFill>
                <a:latin typeface="Calibri"/>
              </a:rPr>
            </a:br>
            <a:r>
              <a:rPr sz="1200" b="1">
                <a:solidFill>
                  <a:srgbClr val="FFFFFF"/>
                </a:solidFill>
                <a:latin typeface="Calibri"/>
              </a:rPr>
              <a:t>testing</a:t>
            </a:r>
            <a:endParaRPr/>
          </a:p>
        </p:txBody>
      </p:sp>
      <p:sp>
        <p:nvSpPr>
          <p:cNvPr id="1125795981" name="TextBox 25"/>
          <p:cNvSpPr txBox="1"/>
          <p:nvPr/>
        </p:nvSpPr>
        <p:spPr bwMode="auto">
          <a:xfrm>
            <a:off x="8778240" y="2377440"/>
            <a:ext cx="27432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/>
            </a:pPr>
            <a:r>
              <a:rPr sz="2600" b="0">
                <a:solidFill>
                  <a:srgbClr val="555F70"/>
                </a:solidFill>
                <a:latin typeface="Calibri"/>
              </a:rPr>
              <a:t>›</a:t>
            </a:r>
            <a:endParaRPr/>
          </a:p>
        </p:txBody>
      </p:sp>
      <p:sp>
        <p:nvSpPr>
          <p:cNvPr id="489323919" name="Rounded Rectangle 26"/>
          <p:cNvSpPr/>
          <p:nvPr/>
        </p:nvSpPr>
        <p:spPr bwMode="auto">
          <a:xfrm>
            <a:off x="8961120" y="2103120"/>
            <a:ext cx="1280160" cy="1280160"/>
          </a:xfrm>
          <a:prstGeom prst="roundRect">
            <a:avLst>
              <a:gd name="adj" fmla="val 16667"/>
            </a:avLst>
          </a:prstGeom>
          <a:solidFill>
            <a:srgbClr val="0F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11146874" name="TextBox 27"/>
          <p:cNvSpPr txBox="1"/>
          <p:nvPr/>
        </p:nvSpPr>
        <p:spPr bwMode="auto">
          <a:xfrm>
            <a:off x="8961120" y="2103120"/>
            <a:ext cx="1280160" cy="12801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/>
            </a:pPr>
            <a:r>
              <a:rPr sz="1200" b="1">
                <a:solidFill>
                  <a:srgbClr val="FFFFFF"/>
                </a:solidFill>
                <a:latin typeface="Calibri"/>
              </a:rPr>
              <a:t>AWS + Amoy</a:t>
            </a:r>
            <a:br>
              <a:rPr sz="1200" b="1">
                <a:solidFill>
                  <a:srgbClr val="FFFFFF"/>
                </a:solidFill>
                <a:latin typeface="Calibri"/>
              </a:rPr>
            </a:br>
            <a:r>
              <a:rPr sz="1200" b="1">
                <a:solidFill>
                  <a:srgbClr val="FFFFFF"/>
                </a:solidFill>
                <a:latin typeface="Calibri"/>
              </a:rPr>
              <a:t>deployment</a:t>
            </a:r>
            <a:endParaRPr/>
          </a:p>
        </p:txBody>
      </p:sp>
      <p:sp>
        <p:nvSpPr>
          <p:cNvPr id="610453111" name="TextBox 28"/>
          <p:cNvSpPr txBox="1"/>
          <p:nvPr/>
        </p:nvSpPr>
        <p:spPr bwMode="auto">
          <a:xfrm>
            <a:off x="10195560" y="2377440"/>
            <a:ext cx="27432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/>
            </a:pPr>
            <a:r>
              <a:rPr sz="2600" b="0">
                <a:solidFill>
                  <a:srgbClr val="555F70"/>
                </a:solidFill>
                <a:latin typeface="Calibri"/>
              </a:rPr>
              <a:t>›</a:t>
            </a:r>
            <a:endParaRPr/>
          </a:p>
        </p:txBody>
      </p:sp>
      <p:sp>
        <p:nvSpPr>
          <p:cNvPr id="417724528" name="Rounded Rectangle 29"/>
          <p:cNvSpPr/>
          <p:nvPr/>
        </p:nvSpPr>
        <p:spPr bwMode="auto">
          <a:xfrm>
            <a:off x="10378440" y="2103120"/>
            <a:ext cx="1280160" cy="1280160"/>
          </a:xfrm>
          <a:prstGeom prst="roundRect">
            <a:avLst>
              <a:gd name="adj" fmla="val 16667"/>
            </a:avLst>
          </a:prstGeom>
          <a:solidFill>
            <a:srgbClr val="7B3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55656535" name="TextBox 30"/>
          <p:cNvSpPr txBox="1"/>
          <p:nvPr/>
        </p:nvSpPr>
        <p:spPr bwMode="auto">
          <a:xfrm>
            <a:off x="10378440" y="2103120"/>
            <a:ext cx="1280160" cy="12801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/>
            </a:pPr>
            <a:r>
              <a:rPr sz="1200" b="1">
                <a:solidFill>
                  <a:srgbClr val="FFFFFF"/>
                </a:solidFill>
                <a:latin typeface="Calibri"/>
              </a:rPr>
              <a:t>Docs &amp;</a:t>
            </a:r>
            <a:br>
              <a:rPr sz="1200" b="1">
                <a:solidFill>
                  <a:srgbClr val="FFFFFF"/>
                </a:solidFill>
                <a:latin typeface="Calibri"/>
              </a:rPr>
            </a:br>
            <a:r>
              <a:rPr sz="1200" b="1">
                <a:solidFill>
                  <a:srgbClr val="FFFFFF"/>
                </a:solidFill>
                <a:latin typeface="Calibri"/>
              </a:rPr>
              <a:t>demo</a:t>
            </a:r>
            <a:endParaRPr/>
          </a:p>
        </p:txBody>
      </p:sp>
      <p:sp>
        <p:nvSpPr>
          <p:cNvPr id="905274096" name="TextBox 31"/>
          <p:cNvSpPr txBox="1"/>
          <p:nvPr/>
        </p:nvSpPr>
        <p:spPr bwMode="auto">
          <a:xfrm>
            <a:off x="548640" y="39319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/>
            </a:pPr>
            <a:r>
              <a:rPr sz="1500">
                <a:solidFill>
                  <a:srgbClr val="555F70"/>
                </a:solidFill>
                <a:latin typeface="Calibri"/>
              </a:rPr>
              <a:t>•  Test-first for the contract: 26 automated tests (Solidity unit + fuzz, Mocha end-to-end) before any deployment</a:t>
            </a:r>
            <a:endParaRPr/>
          </a:p>
          <a:p>
            <a:pPr>
              <a:spcAft>
                <a:spcPts val="800"/>
              </a:spcAft>
              <a:defRPr/>
            </a:pPr>
            <a:r>
              <a:rPr sz="1500">
                <a:solidFill>
                  <a:srgbClr val="555F70"/>
                </a:solidFill>
                <a:latin typeface="Calibri"/>
              </a:rPr>
              <a:t>•  Full issue → verify → revoke → verify cycle validated on a local Hardhat node, then replayed on Polygon Amoy</a:t>
            </a:r>
            <a:endParaRPr/>
          </a:p>
          <a:p>
            <a:pPr>
              <a:spcAft>
                <a:spcPts val="800"/>
              </a:spcAft>
              <a:defRPr/>
            </a:pPr>
            <a:r>
              <a:rPr sz="1500">
                <a:solidFill>
                  <a:srgbClr val="555F70"/>
                </a:solidFill>
                <a:latin typeface="Calibri"/>
              </a:rPr>
              <a:t>•  Contract source verified on Polygonscan; runtime secrets held in AWS Secrets Manager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8188670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12790331" name="Rectangle 2"/>
          <p:cNvSpPr/>
          <p:nvPr/>
        </p:nvSpPr>
        <p:spPr bwMode="auto">
          <a:xfrm>
            <a:off x="0" y="0"/>
            <a:ext cx="12191695" cy="1005840"/>
          </a:xfrm>
          <a:prstGeom prst="rect">
            <a:avLst/>
          </a:prstGeom>
          <a:solidFill>
            <a:srgbClr val="0F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10869350" name="Rectangle 3"/>
          <p:cNvSpPr/>
          <p:nvPr/>
        </p:nvSpPr>
        <p:spPr bwMode="auto">
          <a:xfrm>
            <a:off x="0" y="1005840"/>
            <a:ext cx="12191695" cy="54864"/>
          </a:xfrm>
          <a:prstGeom prst="rect">
            <a:avLst/>
          </a:prstGeom>
          <a:solidFill>
            <a:srgbClr val="7B3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98987957" name="TextBox 4"/>
          <p:cNvSpPr txBox="1"/>
          <p:nvPr/>
        </p:nvSpPr>
        <p:spPr bwMode="auto">
          <a:xfrm>
            <a:off x="457200" y="0"/>
            <a:ext cx="10972800" cy="10058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defRPr/>
            </a:pPr>
            <a:r>
              <a:rPr sz="3000" b="1">
                <a:solidFill>
                  <a:srgbClr val="FFFFFF"/>
                </a:solidFill>
                <a:latin typeface="Calibri"/>
              </a:rPr>
              <a:t>Security &amp; Privacy</a:t>
            </a:r>
            <a:endParaRPr/>
          </a:p>
        </p:txBody>
      </p:sp>
      <p:sp>
        <p:nvSpPr>
          <p:cNvPr id="950551718" name="Rectangle 5"/>
          <p:cNvSpPr/>
          <p:nvPr/>
        </p:nvSpPr>
        <p:spPr bwMode="auto">
          <a:xfrm>
            <a:off x="0" y="6537960"/>
            <a:ext cx="12191695" cy="320040"/>
          </a:xfrm>
          <a:prstGeom prst="rect">
            <a:avLst/>
          </a:prstGeom>
          <a:solidFill>
            <a:srgbClr val="0F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6739324" name="TextBox 6"/>
          <p:cNvSpPr txBox="1"/>
          <p:nvPr/>
        </p:nvSpPr>
        <p:spPr bwMode="auto">
          <a:xfrm>
            <a:off x="365760" y="6537960"/>
            <a:ext cx="822960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defRPr/>
            </a:pPr>
            <a:r>
              <a:rPr sz="1100" b="0">
                <a:solidFill>
                  <a:srgbClr val="FFFFFF"/>
                </a:solidFill>
                <a:latin typeface="Calibri"/>
              </a:rPr>
              <a:t>Blockchain-Based Academic Credentials Verification System</a:t>
            </a:r>
            <a:endParaRPr/>
          </a:p>
        </p:txBody>
      </p:sp>
      <p:sp>
        <p:nvSpPr>
          <p:cNvPr id="1569378976" name="TextBox 7"/>
          <p:cNvSpPr txBox="1"/>
          <p:nvPr/>
        </p:nvSpPr>
        <p:spPr bwMode="auto">
          <a:xfrm>
            <a:off x="10911535" y="6537960"/>
            <a:ext cx="91440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defRPr/>
            </a:pPr>
            <a:r>
              <a:rPr sz="1100" b="0">
                <a:solidFill>
                  <a:srgbClr val="FFFFFF"/>
                </a:solidFill>
                <a:latin typeface="Calibri"/>
              </a:rPr>
              <a:t>12</a:t>
            </a:r>
            <a:endParaRPr/>
          </a:p>
        </p:txBody>
      </p:sp>
      <p:sp>
        <p:nvSpPr>
          <p:cNvPr id="257343899" name="TextBox 8"/>
          <p:cNvSpPr txBox="1"/>
          <p:nvPr/>
        </p:nvSpPr>
        <p:spPr bwMode="auto">
          <a:xfrm>
            <a:off x="548640" y="13716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/>
            </a:pPr>
            <a:r>
              <a:rPr sz="1800">
                <a:solidFill>
                  <a:srgbClr val="0F1F3D"/>
                </a:solidFill>
                <a:latin typeface="Calibri"/>
              </a:rPr>
              <a:t>•  Only the contract owner (institution wallet) can issue or revoke — enforced on-chain by OpenZeppelin Ownable</a:t>
            </a:r>
            <a:endParaRPr/>
          </a:p>
          <a:p>
            <a:pPr>
              <a:spcAft>
                <a:spcPts val="1200"/>
              </a:spcAft>
              <a:defRPr/>
            </a:pPr>
            <a:r>
              <a:rPr sz="1800">
                <a:solidFill>
                  <a:srgbClr val="0F1F3D"/>
                </a:solidFill>
                <a:latin typeface="Calibri"/>
              </a:rPr>
              <a:t>•  Private keys never in source control: Hardhat encrypted keystore for deployment, AWS Secrets Manager at runtime</a:t>
            </a:r>
            <a:endParaRPr/>
          </a:p>
          <a:p>
            <a:pPr>
              <a:spcAft>
                <a:spcPts val="1200"/>
              </a:spcAft>
              <a:defRPr/>
            </a:pPr>
            <a:r>
              <a:rPr sz="1800">
                <a:solidFill>
                  <a:srgbClr val="0F1F3D"/>
                </a:solidFill>
                <a:latin typeface="Calibri"/>
              </a:rPr>
              <a:t>•  Admin passwords stored as bcrypt hashes; admin routes protected by JWT; API rate-limited</a:t>
            </a:r>
            <a:endParaRPr/>
          </a:p>
          <a:p>
            <a:pPr>
              <a:spcAft>
                <a:spcPts val="1200"/>
              </a:spcAft>
              <a:defRPr/>
            </a:pPr>
            <a:r>
              <a:rPr sz="1800">
                <a:solidFill>
                  <a:srgbClr val="0F1F3D"/>
                </a:solidFill>
                <a:latin typeface="Calibri"/>
              </a:rPr>
              <a:t>•  No personal data on-chain — only hashes — so the public ledger reveals nothing about students</a:t>
            </a:r>
            <a:endParaRPr/>
          </a:p>
          <a:p>
            <a:pPr>
              <a:spcAft>
                <a:spcPts val="1200"/>
              </a:spcAft>
              <a:defRPr/>
            </a:pPr>
            <a:r>
              <a:rPr sz="1800">
                <a:solidFill>
                  <a:srgbClr val="0F1F3D"/>
                </a:solidFill>
                <a:latin typeface="Calibri"/>
              </a:rPr>
              <a:t>•  Two-sided tamper detection: DB record vs stored hash, and stored hash vs on-chain hash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311675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871944" name="Rectangle 2"/>
          <p:cNvSpPr/>
          <p:nvPr/>
        </p:nvSpPr>
        <p:spPr bwMode="auto">
          <a:xfrm>
            <a:off x="0" y="0"/>
            <a:ext cx="12191695" cy="1005840"/>
          </a:xfrm>
          <a:prstGeom prst="rect">
            <a:avLst/>
          </a:prstGeom>
          <a:solidFill>
            <a:srgbClr val="0F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53499400" name="Rectangle 3"/>
          <p:cNvSpPr/>
          <p:nvPr/>
        </p:nvSpPr>
        <p:spPr bwMode="auto">
          <a:xfrm>
            <a:off x="0" y="1005840"/>
            <a:ext cx="12191695" cy="54864"/>
          </a:xfrm>
          <a:prstGeom prst="rect">
            <a:avLst/>
          </a:prstGeom>
          <a:solidFill>
            <a:srgbClr val="7B3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75665774" name="TextBox 4"/>
          <p:cNvSpPr txBox="1"/>
          <p:nvPr/>
        </p:nvSpPr>
        <p:spPr bwMode="auto">
          <a:xfrm>
            <a:off x="457200" y="0"/>
            <a:ext cx="10972800" cy="10058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defRPr/>
            </a:pPr>
            <a:r>
              <a:rPr sz="3000" b="1">
                <a:solidFill>
                  <a:srgbClr val="FFFFFF"/>
                </a:solidFill>
                <a:latin typeface="Calibri"/>
              </a:rPr>
              <a:t>Hardware, Software &amp; Deployment Requirements</a:t>
            </a:r>
            <a:endParaRPr/>
          </a:p>
        </p:txBody>
      </p:sp>
      <p:sp>
        <p:nvSpPr>
          <p:cNvPr id="1313941626" name="Rectangle 5"/>
          <p:cNvSpPr/>
          <p:nvPr/>
        </p:nvSpPr>
        <p:spPr bwMode="auto">
          <a:xfrm>
            <a:off x="0" y="6537960"/>
            <a:ext cx="12191695" cy="320040"/>
          </a:xfrm>
          <a:prstGeom prst="rect">
            <a:avLst/>
          </a:prstGeom>
          <a:solidFill>
            <a:srgbClr val="0F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91596184" name="TextBox 6"/>
          <p:cNvSpPr txBox="1"/>
          <p:nvPr/>
        </p:nvSpPr>
        <p:spPr bwMode="auto">
          <a:xfrm>
            <a:off x="365760" y="6537960"/>
            <a:ext cx="822960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defRPr/>
            </a:pPr>
            <a:r>
              <a:rPr sz="1100" b="0">
                <a:solidFill>
                  <a:srgbClr val="FFFFFF"/>
                </a:solidFill>
                <a:latin typeface="Calibri"/>
              </a:rPr>
              <a:t>Blockchain-Based Academic Credentials Verification System</a:t>
            </a:r>
            <a:endParaRPr/>
          </a:p>
        </p:txBody>
      </p:sp>
      <p:sp>
        <p:nvSpPr>
          <p:cNvPr id="60678343" name="TextBox 7"/>
          <p:cNvSpPr txBox="1"/>
          <p:nvPr/>
        </p:nvSpPr>
        <p:spPr bwMode="auto">
          <a:xfrm>
            <a:off x="10911535" y="6537960"/>
            <a:ext cx="91440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defRPr/>
            </a:pPr>
            <a:r>
              <a:rPr sz="1100" b="0">
                <a:solidFill>
                  <a:srgbClr val="FFFFFF"/>
                </a:solidFill>
                <a:latin typeface="Calibri"/>
              </a:rPr>
              <a:t>13</a:t>
            </a:r>
            <a:endParaRPr/>
          </a:p>
        </p:txBody>
      </p:sp>
      <p:sp>
        <p:nvSpPr>
          <p:cNvPr id="905389407" name="Rounded Rectangle 8"/>
          <p:cNvSpPr/>
          <p:nvPr/>
        </p:nvSpPr>
        <p:spPr bwMode="auto">
          <a:xfrm>
            <a:off x="548640" y="1463040"/>
            <a:ext cx="3566160" cy="4389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61454351" name="TextBox 9"/>
          <p:cNvSpPr txBox="1"/>
          <p:nvPr/>
        </p:nvSpPr>
        <p:spPr bwMode="auto">
          <a:xfrm>
            <a:off x="731520" y="1600200"/>
            <a:ext cx="32004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/>
            </a:pPr>
            <a:r>
              <a:rPr sz="1800" b="1">
                <a:solidFill>
                  <a:srgbClr val="7B3FE4"/>
                </a:solidFill>
                <a:latin typeface="Calibri"/>
              </a:rPr>
              <a:t>Development</a:t>
            </a:r>
            <a:endParaRPr/>
          </a:p>
        </p:txBody>
      </p:sp>
      <p:sp>
        <p:nvSpPr>
          <p:cNvPr id="2005316133" name="TextBox 10"/>
          <p:cNvSpPr txBox="1"/>
          <p:nvPr/>
        </p:nvSpPr>
        <p:spPr bwMode="auto">
          <a:xfrm>
            <a:off x="731520" y="210312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/>
            </a:pPr>
            <a:r>
              <a:rPr sz="1500">
                <a:solidFill>
                  <a:srgbClr val="555F70"/>
                </a:solidFill>
                <a:latin typeface="Calibri"/>
              </a:rPr>
              <a:t>•  PC with 8 GB RAM</a:t>
            </a:r>
            <a:endParaRPr/>
          </a:p>
          <a:p>
            <a:pPr>
              <a:spcAft>
                <a:spcPts val="600"/>
              </a:spcAft>
              <a:defRPr/>
            </a:pPr>
            <a:r>
              <a:rPr sz="1500">
                <a:solidFill>
                  <a:srgbClr val="555F70"/>
                </a:solidFill>
                <a:latin typeface="Calibri"/>
              </a:rPr>
              <a:t>•  Node.js 20+, pnpm / npm</a:t>
            </a:r>
            <a:endParaRPr/>
          </a:p>
          <a:p>
            <a:pPr>
              <a:spcAft>
                <a:spcPts val="600"/>
              </a:spcAft>
              <a:defRPr/>
            </a:pPr>
            <a:r>
              <a:rPr sz="1500">
                <a:solidFill>
                  <a:srgbClr val="555F70"/>
                </a:solidFill>
                <a:latin typeface="Calibri"/>
              </a:rPr>
              <a:t>•  Docker, Git</a:t>
            </a:r>
            <a:endParaRPr/>
          </a:p>
          <a:p>
            <a:pPr>
              <a:spcAft>
                <a:spcPts val="600"/>
              </a:spcAft>
              <a:defRPr/>
            </a:pPr>
            <a:r>
              <a:rPr sz="1500">
                <a:solidFill>
                  <a:srgbClr val="555F70"/>
                </a:solidFill>
                <a:latin typeface="Calibri"/>
              </a:rPr>
              <a:t>•  Hardhat local node</a:t>
            </a:r>
            <a:endParaRPr/>
          </a:p>
        </p:txBody>
      </p:sp>
      <p:sp>
        <p:nvSpPr>
          <p:cNvPr id="1965899874" name="Rounded Rectangle 11"/>
          <p:cNvSpPr/>
          <p:nvPr/>
        </p:nvSpPr>
        <p:spPr bwMode="auto">
          <a:xfrm>
            <a:off x="4297680" y="1463040"/>
            <a:ext cx="3566160" cy="4389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98479290" name="TextBox 12"/>
          <p:cNvSpPr txBox="1"/>
          <p:nvPr/>
        </p:nvSpPr>
        <p:spPr bwMode="auto">
          <a:xfrm>
            <a:off x="4480560" y="1600200"/>
            <a:ext cx="32004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/>
            </a:pPr>
            <a:r>
              <a:rPr sz="1800" b="1">
                <a:solidFill>
                  <a:srgbClr val="7B3FE4"/>
                </a:solidFill>
                <a:latin typeface="Calibri"/>
              </a:rPr>
              <a:t>Production (AWS)</a:t>
            </a:r>
            <a:endParaRPr/>
          </a:p>
        </p:txBody>
      </p:sp>
      <p:sp>
        <p:nvSpPr>
          <p:cNvPr id="1268688183" name="TextBox 13"/>
          <p:cNvSpPr txBox="1"/>
          <p:nvPr/>
        </p:nvSpPr>
        <p:spPr bwMode="auto">
          <a:xfrm>
            <a:off x="4480560" y="210312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/>
            </a:pPr>
            <a:r>
              <a:rPr sz="1500">
                <a:solidFill>
                  <a:srgbClr val="555F70"/>
                </a:solidFill>
                <a:latin typeface="Calibri"/>
              </a:rPr>
              <a:t>•  Backend: ECS Fargate / EC2</a:t>
            </a:r>
            <a:endParaRPr/>
          </a:p>
          <a:p>
            <a:pPr>
              <a:spcAft>
                <a:spcPts val="600"/>
              </a:spcAft>
              <a:defRPr/>
            </a:pPr>
            <a:r>
              <a:rPr sz="1500">
                <a:solidFill>
                  <a:srgbClr val="555F70"/>
                </a:solidFill>
                <a:latin typeface="Calibri"/>
              </a:rPr>
              <a:t>•  Frontend: S3 + CloudFront</a:t>
            </a:r>
            <a:endParaRPr/>
          </a:p>
          <a:p>
            <a:pPr>
              <a:spcAft>
                <a:spcPts val="600"/>
              </a:spcAft>
              <a:defRPr/>
            </a:pPr>
            <a:r>
              <a:rPr sz="1500">
                <a:solidFill>
                  <a:srgbClr val="555F70"/>
                </a:solidFill>
                <a:latin typeface="Calibri"/>
              </a:rPr>
              <a:t>•  Database: Amazon RDS (PostgreSQL)</a:t>
            </a:r>
            <a:endParaRPr/>
          </a:p>
          <a:p>
            <a:pPr>
              <a:spcAft>
                <a:spcPts val="600"/>
              </a:spcAft>
              <a:defRPr/>
            </a:pPr>
            <a:r>
              <a:rPr sz="1500">
                <a:solidFill>
                  <a:srgbClr val="555F70"/>
                </a:solidFill>
                <a:latin typeface="Calibri"/>
              </a:rPr>
              <a:t>•  Secrets Manager: RPC URL, wallet key, JWT secret</a:t>
            </a:r>
            <a:endParaRPr/>
          </a:p>
        </p:txBody>
      </p:sp>
      <p:sp>
        <p:nvSpPr>
          <p:cNvPr id="420842380" name="Rounded Rectangle 14"/>
          <p:cNvSpPr/>
          <p:nvPr/>
        </p:nvSpPr>
        <p:spPr bwMode="auto">
          <a:xfrm>
            <a:off x="8046720" y="1463040"/>
            <a:ext cx="3566160" cy="4389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27609317" name="TextBox 15"/>
          <p:cNvSpPr txBox="1"/>
          <p:nvPr/>
        </p:nvSpPr>
        <p:spPr bwMode="auto">
          <a:xfrm>
            <a:off x="8229600" y="1600200"/>
            <a:ext cx="32004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/>
            </a:pPr>
            <a:r>
              <a:rPr sz="1800" b="1">
                <a:solidFill>
                  <a:srgbClr val="7B3FE4"/>
                </a:solidFill>
                <a:latin typeface="Calibri"/>
              </a:rPr>
              <a:t>External services</a:t>
            </a:r>
            <a:endParaRPr/>
          </a:p>
        </p:txBody>
      </p:sp>
      <p:sp>
        <p:nvSpPr>
          <p:cNvPr id="1407022383" name="TextBox 16"/>
          <p:cNvSpPr txBox="1"/>
          <p:nvPr/>
        </p:nvSpPr>
        <p:spPr bwMode="auto">
          <a:xfrm>
            <a:off x="8229600" y="210312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/>
            </a:pPr>
            <a:r>
              <a:rPr sz="1500">
                <a:solidFill>
                  <a:srgbClr val="555F70"/>
                </a:solidFill>
                <a:latin typeface="Calibri"/>
              </a:rPr>
              <a:t>•  Polygon Amoy RPC (Alchemy / public)</a:t>
            </a:r>
            <a:endParaRPr/>
          </a:p>
          <a:p>
            <a:pPr>
              <a:spcAft>
                <a:spcPts val="600"/>
              </a:spcAft>
              <a:defRPr/>
            </a:pPr>
            <a:r>
              <a:rPr sz="1500">
                <a:solidFill>
                  <a:srgbClr val="555F70"/>
                </a:solidFill>
                <a:latin typeface="Calibri"/>
              </a:rPr>
              <a:t>•  Test POL from Polygon faucet</a:t>
            </a:r>
            <a:endParaRPr/>
          </a:p>
          <a:p>
            <a:pPr>
              <a:spcAft>
                <a:spcPts val="600"/>
              </a:spcAft>
              <a:defRPr/>
            </a:pPr>
            <a:r>
              <a:rPr sz="1500">
                <a:solidFill>
                  <a:srgbClr val="555F70"/>
                </a:solidFill>
                <a:latin typeface="Calibri"/>
              </a:rPr>
              <a:t>•  Polygonscan API key (contract verification)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2539640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89853548" name="Rectangle 2"/>
          <p:cNvSpPr/>
          <p:nvPr/>
        </p:nvSpPr>
        <p:spPr bwMode="auto">
          <a:xfrm>
            <a:off x="0" y="0"/>
            <a:ext cx="12191695" cy="1005840"/>
          </a:xfrm>
          <a:prstGeom prst="rect">
            <a:avLst/>
          </a:prstGeom>
          <a:solidFill>
            <a:srgbClr val="0F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06157475" name="Rectangle 3"/>
          <p:cNvSpPr/>
          <p:nvPr/>
        </p:nvSpPr>
        <p:spPr bwMode="auto">
          <a:xfrm>
            <a:off x="0" y="1005840"/>
            <a:ext cx="12191695" cy="54864"/>
          </a:xfrm>
          <a:prstGeom prst="rect">
            <a:avLst/>
          </a:prstGeom>
          <a:solidFill>
            <a:srgbClr val="7B3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7124313" name="TextBox 4"/>
          <p:cNvSpPr txBox="1"/>
          <p:nvPr/>
        </p:nvSpPr>
        <p:spPr bwMode="auto">
          <a:xfrm>
            <a:off x="457200" y="0"/>
            <a:ext cx="10972800" cy="10058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defRPr/>
            </a:pPr>
            <a:r>
              <a:rPr sz="3000" b="1">
                <a:solidFill>
                  <a:srgbClr val="FFFFFF"/>
                </a:solidFill>
                <a:latin typeface="Calibri"/>
              </a:rPr>
              <a:t>Expected Outcomes &amp; Future Scope</a:t>
            </a:r>
            <a:endParaRPr/>
          </a:p>
        </p:txBody>
      </p:sp>
      <p:sp>
        <p:nvSpPr>
          <p:cNvPr id="1753236308" name="Rectangle 5"/>
          <p:cNvSpPr/>
          <p:nvPr/>
        </p:nvSpPr>
        <p:spPr bwMode="auto">
          <a:xfrm>
            <a:off x="0" y="6537960"/>
            <a:ext cx="12191695" cy="320040"/>
          </a:xfrm>
          <a:prstGeom prst="rect">
            <a:avLst/>
          </a:prstGeom>
          <a:solidFill>
            <a:srgbClr val="0F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77829614" name="TextBox 6"/>
          <p:cNvSpPr txBox="1"/>
          <p:nvPr/>
        </p:nvSpPr>
        <p:spPr bwMode="auto">
          <a:xfrm>
            <a:off x="365760" y="6537960"/>
            <a:ext cx="822960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defRPr/>
            </a:pPr>
            <a:r>
              <a:rPr sz="1100" b="0">
                <a:solidFill>
                  <a:srgbClr val="FFFFFF"/>
                </a:solidFill>
                <a:latin typeface="Calibri"/>
              </a:rPr>
              <a:t>Blockchain-Based Academic Credentials Verification System</a:t>
            </a:r>
            <a:endParaRPr/>
          </a:p>
        </p:txBody>
      </p:sp>
      <p:sp>
        <p:nvSpPr>
          <p:cNvPr id="923741851" name="TextBox 7"/>
          <p:cNvSpPr txBox="1"/>
          <p:nvPr/>
        </p:nvSpPr>
        <p:spPr bwMode="auto">
          <a:xfrm>
            <a:off x="10911535" y="6537960"/>
            <a:ext cx="91440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defRPr/>
            </a:pPr>
            <a:r>
              <a:rPr sz="1100" b="0">
                <a:solidFill>
                  <a:srgbClr val="FFFFFF"/>
                </a:solidFill>
                <a:latin typeface="Calibri"/>
              </a:rPr>
              <a:t>14</a:t>
            </a:r>
            <a:endParaRPr/>
          </a:p>
        </p:txBody>
      </p:sp>
      <p:sp>
        <p:nvSpPr>
          <p:cNvPr id="1632480663" name="TextBox 8"/>
          <p:cNvSpPr txBox="1"/>
          <p:nvPr/>
        </p:nvSpPr>
        <p:spPr bwMode="auto">
          <a:xfrm>
            <a:off x="548640" y="1280160"/>
            <a:ext cx="54864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/>
            </a:pPr>
            <a:r>
              <a:rPr sz="2000" b="1">
                <a:solidFill>
                  <a:srgbClr val="0F1F3D"/>
                </a:solidFill>
                <a:latin typeface="Calibri"/>
              </a:rPr>
              <a:t>Expected outcomes</a:t>
            </a:r>
            <a:endParaRPr/>
          </a:p>
        </p:txBody>
      </p:sp>
      <p:sp>
        <p:nvSpPr>
          <p:cNvPr id="120029537" name="TextBox 9"/>
          <p:cNvSpPr txBox="1"/>
          <p:nvPr/>
        </p:nvSpPr>
        <p:spPr bwMode="auto">
          <a:xfrm>
            <a:off x="548640" y="1783080"/>
            <a:ext cx="5394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/>
            </a:pPr>
            <a:r>
              <a:rPr sz="1500">
                <a:solidFill>
                  <a:srgbClr val="555F70"/>
                </a:solidFill>
                <a:latin typeface="Calibri"/>
              </a:rPr>
              <a:t>•  Working platform: issue, verify and revoke end-to-end</a:t>
            </a:r>
            <a:endParaRPr/>
          </a:p>
          <a:p>
            <a:pPr>
              <a:spcAft>
                <a:spcPts val="800"/>
              </a:spcAft>
              <a:defRPr/>
            </a:pPr>
            <a:r>
              <a:rPr sz="1500">
                <a:solidFill>
                  <a:srgbClr val="555F70"/>
                </a:solidFill>
                <a:latin typeface="Calibri"/>
              </a:rPr>
              <a:t>•  Every credential backed by a Polygon Amoy transaction on Polygonscan</a:t>
            </a:r>
            <a:endParaRPr/>
          </a:p>
          <a:p>
            <a:pPr>
              <a:spcAft>
                <a:spcPts val="800"/>
              </a:spcAft>
              <a:defRPr/>
            </a:pPr>
            <a:r>
              <a:rPr sz="1500">
                <a:solidFill>
                  <a:srgbClr val="555F70"/>
                </a:solidFill>
                <a:latin typeface="Calibri"/>
              </a:rPr>
              <a:t>•  Verification in seconds by anyone with the ID or QR code</a:t>
            </a:r>
            <a:endParaRPr/>
          </a:p>
          <a:p>
            <a:pPr>
              <a:spcAft>
                <a:spcPts val="800"/>
              </a:spcAft>
              <a:defRPr/>
            </a:pPr>
            <a:r>
              <a:rPr sz="1500">
                <a:solidFill>
                  <a:srgbClr val="555F70"/>
                </a:solidFill>
                <a:latin typeface="Calibri"/>
              </a:rPr>
              <a:t>•  Live tamper-detection demo: edit a DB row → hash mismatch flagged</a:t>
            </a:r>
            <a:endParaRPr/>
          </a:p>
          <a:p>
            <a:pPr>
              <a:spcAft>
                <a:spcPts val="800"/>
              </a:spcAft>
              <a:defRPr/>
            </a:pPr>
            <a:r>
              <a:rPr sz="1500">
                <a:solidFill>
                  <a:srgbClr val="555F70"/>
                </a:solidFill>
                <a:latin typeface="Calibri"/>
              </a:rPr>
              <a:t>•  Automated test coverage of contract and backend</a:t>
            </a:r>
            <a:endParaRPr/>
          </a:p>
        </p:txBody>
      </p:sp>
      <p:sp>
        <p:nvSpPr>
          <p:cNvPr id="480022652" name="TextBox 10"/>
          <p:cNvSpPr txBox="1"/>
          <p:nvPr/>
        </p:nvSpPr>
        <p:spPr bwMode="auto">
          <a:xfrm>
            <a:off x="6309360" y="1280160"/>
            <a:ext cx="54864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/>
            </a:pPr>
            <a:r>
              <a:rPr sz="2000" b="1">
                <a:solidFill>
                  <a:srgbClr val="7B3FE4"/>
                </a:solidFill>
                <a:latin typeface="Calibri"/>
              </a:rPr>
              <a:t>Future scope</a:t>
            </a:r>
            <a:endParaRPr/>
          </a:p>
        </p:txBody>
      </p:sp>
      <p:sp>
        <p:nvSpPr>
          <p:cNvPr id="1970777124" name="TextBox 11"/>
          <p:cNvSpPr txBox="1"/>
          <p:nvPr/>
        </p:nvSpPr>
        <p:spPr bwMode="auto">
          <a:xfrm>
            <a:off x="6309360" y="1783080"/>
            <a:ext cx="5394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/>
            </a:pPr>
            <a:r>
              <a:rPr sz="1500">
                <a:solidFill>
                  <a:srgbClr val="555F70"/>
                </a:solidFill>
                <a:latin typeface="Calibri"/>
              </a:rPr>
              <a:t>•  Multi-institution issuer roles (OpenZeppelin AccessControl)</a:t>
            </a:r>
            <a:endParaRPr/>
          </a:p>
          <a:p>
            <a:pPr>
              <a:spcAft>
                <a:spcPts val="800"/>
              </a:spcAft>
              <a:defRPr/>
            </a:pPr>
            <a:r>
              <a:rPr sz="1500">
                <a:solidFill>
                  <a:srgbClr val="555F70"/>
                </a:solidFill>
                <a:latin typeface="Calibri"/>
              </a:rPr>
              <a:t>•  Student-owned credentials: soul-bound tokens / W3C Verifiable Credentials</a:t>
            </a:r>
            <a:endParaRPr/>
          </a:p>
          <a:p>
            <a:pPr>
              <a:spcAft>
                <a:spcPts val="800"/>
              </a:spcAft>
              <a:defRPr/>
            </a:pPr>
            <a:r>
              <a:rPr sz="1500">
                <a:solidFill>
                  <a:srgbClr val="555F70"/>
                </a:solidFill>
                <a:latin typeface="Calibri"/>
              </a:rPr>
              <a:t>•  Batch issuance via Merkle roots to cut gas for large cohorts</a:t>
            </a:r>
            <a:endParaRPr/>
          </a:p>
          <a:p>
            <a:pPr>
              <a:spcAft>
                <a:spcPts val="800"/>
              </a:spcAft>
              <a:defRPr/>
            </a:pPr>
            <a:r>
              <a:rPr sz="1500">
                <a:solidFill>
                  <a:srgbClr val="555F70"/>
                </a:solidFill>
                <a:latin typeface="Calibri"/>
              </a:rPr>
              <a:t>•  Polygon PoS mainnet once validated</a:t>
            </a:r>
            <a:endParaRPr/>
          </a:p>
          <a:p>
            <a:pPr>
              <a:spcAft>
                <a:spcPts val="800"/>
              </a:spcAft>
              <a:defRPr/>
            </a:pPr>
            <a:r>
              <a:rPr sz="1500">
                <a:solidFill>
                  <a:srgbClr val="555F70"/>
                </a:solidFill>
                <a:latin typeface="Calibri"/>
              </a:rPr>
              <a:t>•  Integration with national academic repositories and HR systems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2049100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6572485" name="Rectangle 2"/>
          <p:cNvSpPr/>
          <p:nvPr/>
        </p:nvSpPr>
        <p:spPr bwMode="auto">
          <a:xfrm>
            <a:off x="0" y="0"/>
            <a:ext cx="12191695" cy="1005840"/>
          </a:xfrm>
          <a:prstGeom prst="rect">
            <a:avLst/>
          </a:prstGeom>
          <a:solidFill>
            <a:srgbClr val="0F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20497401" name="Rectangle 3"/>
          <p:cNvSpPr/>
          <p:nvPr/>
        </p:nvSpPr>
        <p:spPr bwMode="auto">
          <a:xfrm>
            <a:off x="0" y="1005840"/>
            <a:ext cx="12191695" cy="54864"/>
          </a:xfrm>
          <a:prstGeom prst="rect">
            <a:avLst/>
          </a:prstGeom>
          <a:solidFill>
            <a:srgbClr val="7B3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5108393" name="TextBox 4"/>
          <p:cNvSpPr txBox="1"/>
          <p:nvPr/>
        </p:nvSpPr>
        <p:spPr bwMode="auto">
          <a:xfrm>
            <a:off x="457200" y="0"/>
            <a:ext cx="10972800" cy="10058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defRPr/>
            </a:pPr>
            <a:r>
              <a:rPr sz="3000" b="1">
                <a:solidFill>
                  <a:srgbClr val="FFFFFF"/>
                </a:solidFill>
                <a:latin typeface="Calibri"/>
              </a:rPr>
              <a:t>Project Status: ~70% Complete</a:t>
            </a:r>
            <a:endParaRPr/>
          </a:p>
        </p:txBody>
      </p:sp>
      <p:sp>
        <p:nvSpPr>
          <p:cNvPr id="165474168" name="Rectangle 5"/>
          <p:cNvSpPr/>
          <p:nvPr/>
        </p:nvSpPr>
        <p:spPr bwMode="auto">
          <a:xfrm>
            <a:off x="0" y="6537960"/>
            <a:ext cx="12191695" cy="320040"/>
          </a:xfrm>
          <a:prstGeom prst="rect">
            <a:avLst/>
          </a:prstGeom>
          <a:solidFill>
            <a:srgbClr val="0F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09992497" name="TextBox 6"/>
          <p:cNvSpPr txBox="1"/>
          <p:nvPr/>
        </p:nvSpPr>
        <p:spPr bwMode="auto">
          <a:xfrm>
            <a:off x="365760" y="6537960"/>
            <a:ext cx="822960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defRPr/>
            </a:pPr>
            <a:r>
              <a:rPr sz="1100" b="0">
                <a:solidFill>
                  <a:srgbClr val="FFFFFF"/>
                </a:solidFill>
                <a:latin typeface="Calibri"/>
              </a:rPr>
              <a:t>Blockchain-Based Academic Credentials Verification System</a:t>
            </a:r>
            <a:endParaRPr/>
          </a:p>
        </p:txBody>
      </p:sp>
      <p:sp>
        <p:nvSpPr>
          <p:cNvPr id="450619145" name="TextBox 7"/>
          <p:cNvSpPr txBox="1"/>
          <p:nvPr/>
        </p:nvSpPr>
        <p:spPr bwMode="auto">
          <a:xfrm>
            <a:off x="10911535" y="6537960"/>
            <a:ext cx="91440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defRPr/>
            </a:pPr>
            <a:r>
              <a:rPr sz="1100" b="0">
                <a:solidFill>
                  <a:srgbClr val="FFFFFF"/>
                </a:solidFill>
                <a:latin typeface="Calibri"/>
              </a:rPr>
              <a:t>15</a:t>
            </a:r>
            <a:endParaRPr/>
          </a:p>
        </p:txBody>
      </p:sp>
      <p:sp>
        <p:nvSpPr>
          <p:cNvPr id="674144922" name="Rounded Rectangle 8"/>
          <p:cNvSpPr/>
          <p:nvPr/>
        </p:nvSpPr>
        <p:spPr bwMode="auto">
          <a:xfrm>
            <a:off x="548640" y="1417320"/>
            <a:ext cx="11064240" cy="502920"/>
          </a:xfrm>
          <a:prstGeom prst="roundRect">
            <a:avLst>
              <a:gd name="adj" fmla="val 16667"/>
            </a:avLst>
          </a:prstGeom>
          <a:solidFill>
            <a:srgbClr val="DD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35152764" name="Rounded Rectangle 9"/>
          <p:cNvSpPr/>
          <p:nvPr/>
        </p:nvSpPr>
        <p:spPr bwMode="auto">
          <a:xfrm>
            <a:off x="548640" y="1417320"/>
            <a:ext cx="7744967" cy="502920"/>
          </a:xfrm>
          <a:prstGeom prst="roundRect">
            <a:avLst>
              <a:gd name="adj" fmla="val 16667"/>
            </a:avLst>
          </a:prstGeom>
          <a:solidFill>
            <a:srgbClr val="7B3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58830572" name="TextBox 10"/>
          <p:cNvSpPr txBox="1"/>
          <p:nvPr/>
        </p:nvSpPr>
        <p:spPr bwMode="auto">
          <a:xfrm>
            <a:off x="548640" y="1417320"/>
            <a:ext cx="7744967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/>
            </a:pPr>
            <a:r>
              <a:rPr sz="1600" b="1">
                <a:solidFill>
                  <a:srgbClr val="FFFFFF"/>
                </a:solidFill>
                <a:latin typeface="Calibri"/>
              </a:rPr>
              <a:t>Overall  70%</a:t>
            </a:r>
            <a:endParaRPr/>
          </a:p>
        </p:txBody>
      </p:sp>
      <p:sp>
        <p:nvSpPr>
          <p:cNvPr id="1760346286" name="TextBox 11"/>
          <p:cNvSpPr txBox="1"/>
          <p:nvPr/>
        </p:nvSpPr>
        <p:spPr bwMode="auto">
          <a:xfrm>
            <a:off x="548640" y="1965960"/>
            <a:ext cx="110642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/>
            </a:pPr>
            <a:r>
              <a:rPr sz="1200" b="0">
                <a:solidFill>
                  <a:srgbClr val="555F70"/>
                </a:solidFill>
                <a:latin typeface="Calibri"/>
              </a:rPr>
              <a:t>Weighting: application &amp; blockchain 90% of scope (≈80% ready)  ·  AWS deployment 10% of scope (not started)</a:t>
            </a:r>
            <a:endParaRPr/>
          </a:p>
        </p:txBody>
      </p:sp>
      <p:sp>
        <p:nvSpPr>
          <p:cNvPr id="202955548" name="TextBox 12"/>
          <p:cNvSpPr txBox="1"/>
          <p:nvPr/>
        </p:nvSpPr>
        <p:spPr bwMode="auto">
          <a:xfrm>
            <a:off x="548640" y="2468880"/>
            <a:ext cx="694944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defRPr/>
            </a:pPr>
            <a:r>
              <a:rPr sz="1300" b="0">
                <a:solidFill>
                  <a:srgbClr val="0F1F3D"/>
                </a:solidFill>
                <a:latin typeface="Calibri"/>
              </a:rPr>
              <a:t>Smart contract (OpenZeppelin Ownable) + 26 automated tests</a:t>
            </a:r>
            <a:endParaRPr/>
          </a:p>
        </p:txBody>
      </p:sp>
      <p:sp>
        <p:nvSpPr>
          <p:cNvPr id="1843984936" name="Rounded Rectangle 13"/>
          <p:cNvSpPr/>
          <p:nvPr/>
        </p:nvSpPr>
        <p:spPr bwMode="auto">
          <a:xfrm>
            <a:off x="7680960" y="2578608"/>
            <a:ext cx="2926080" cy="237744"/>
          </a:xfrm>
          <a:prstGeom prst="roundRect">
            <a:avLst>
              <a:gd name="adj" fmla="val 16667"/>
            </a:avLst>
          </a:prstGeom>
          <a:solidFill>
            <a:srgbClr val="DD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65811317" name="Rounded Rectangle 14"/>
          <p:cNvSpPr/>
          <p:nvPr/>
        </p:nvSpPr>
        <p:spPr bwMode="auto">
          <a:xfrm>
            <a:off x="7680960" y="2578608"/>
            <a:ext cx="2926080" cy="237744"/>
          </a:xfrm>
          <a:prstGeom prst="roundRect">
            <a:avLst>
              <a:gd name="adj" fmla="val 16667"/>
            </a:avLst>
          </a:prstGeom>
          <a:solidFill>
            <a:srgbClr val="1E9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3684718" name="TextBox 15"/>
          <p:cNvSpPr txBox="1"/>
          <p:nvPr/>
        </p:nvSpPr>
        <p:spPr bwMode="auto">
          <a:xfrm>
            <a:off x="10698480" y="2468880"/>
            <a:ext cx="100584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defRPr/>
            </a:pPr>
            <a:r>
              <a:rPr sz="1100" b="1">
                <a:solidFill>
                  <a:srgbClr val="1E9E5A"/>
                </a:solidFill>
                <a:latin typeface="Calibri"/>
              </a:rPr>
              <a:t>100%  Done</a:t>
            </a:r>
            <a:endParaRPr/>
          </a:p>
        </p:txBody>
      </p:sp>
      <p:sp>
        <p:nvSpPr>
          <p:cNvPr id="685501325" name="TextBox 16"/>
          <p:cNvSpPr txBox="1"/>
          <p:nvPr/>
        </p:nvSpPr>
        <p:spPr bwMode="auto">
          <a:xfrm>
            <a:off x="548640" y="3035808"/>
            <a:ext cx="694944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defRPr/>
            </a:pPr>
            <a:r>
              <a:rPr sz="1300" b="0">
                <a:solidFill>
                  <a:srgbClr val="0F1F3D"/>
                </a:solidFill>
                <a:latin typeface="Calibri"/>
              </a:rPr>
              <a:t>Backend API — auth, issue/verify/revoke, health endpoint, DB migrations</a:t>
            </a:r>
            <a:endParaRPr/>
          </a:p>
        </p:txBody>
      </p:sp>
      <p:sp>
        <p:nvSpPr>
          <p:cNvPr id="667777727" name="Rounded Rectangle 17"/>
          <p:cNvSpPr/>
          <p:nvPr/>
        </p:nvSpPr>
        <p:spPr bwMode="auto">
          <a:xfrm>
            <a:off x="7680960" y="3145536"/>
            <a:ext cx="2926080" cy="237744"/>
          </a:xfrm>
          <a:prstGeom prst="roundRect">
            <a:avLst>
              <a:gd name="adj" fmla="val 16667"/>
            </a:avLst>
          </a:prstGeom>
          <a:solidFill>
            <a:srgbClr val="DD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98467777" name="Rounded Rectangle 18"/>
          <p:cNvSpPr/>
          <p:nvPr/>
        </p:nvSpPr>
        <p:spPr bwMode="auto">
          <a:xfrm>
            <a:off x="7680960" y="3145536"/>
            <a:ext cx="2926080" cy="237744"/>
          </a:xfrm>
          <a:prstGeom prst="roundRect">
            <a:avLst>
              <a:gd name="adj" fmla="val 16667"/>
            </a:avLst>
          </a:prstGeom>
          <a:solidFill>
            <a:srgbClr val="1E9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04477" name="TextBox 19"/>
          <p:cNvSpPr txBox="1"/>
          <p:nvPr/>
        </p:nvSpPr>
        <p:spPr bwMode="auto">
          <a:xfrm>
            <a:off x="10698480" y="3035808"/>
            <a:ext cx="100584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defRPr/>
            </a:pPr>
            <a:r>
              <a:rPr sz="1100" b="1">
                <a:solidFill>
                  <a:srgbClr val="1E9E5A"/>
                </a:solidFill>
                <a:latin typeface="Calibri"/>
              </a:rPr>
              <a:t>100%  Done</a:t>
            </a:r>
            <a:endParaRPr/>
          </a:p>
        </p:txBody>
      </p:sp>
      <p:sp>
        <p:nvSpPr>
          <p:cNvPr id="1466546687" name="TextBox 20"/>
          <p:cNvSpPr txBox="1"/>
          <p:nvPr/>
        </p:nvSpPr>
        <p:spPr bwMode="auto">
          <a:xfrm>
            <a:off x="548640" y="3602735"/>
            <a:ext cx="694944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defRPr/>
            </a:pPr>
            <a:r>
              <a:rPr sz="1300" b="0">
                <a:solidFill>
                  <a:srgbClr val="0F1F3D"/>
                </a:solidFill>
                <a:latin typeface="Calibri"/>
              </a:rPr>
              <a:t>Local end-to-end: Hardhat node + PostgreSQL + API, hashes verified on-chain</a:t>
            </a:r>
            <a:endParaRPr/>
          </a:p>
        </p:txBody>
      </p:sp>
      <p:sp>
        <p:nvSpPr>
          <p:cNvPr id="1196446576" name="Rounded Rectangle 21"/>
          <p:cNvSpPr/>
          <p:nvPr/>
        </p:nvSpPr>
        <p:spPr bwMode="auto">
          <a:xfrm>
            <a:off x="7680960" y="3712464"/>
            <a:ext cx="2926080" cy="237744"/>
          </a:xfrm>
          <a:prstGeom prst="roundRect">
            <a:avLst>
              <a:gd name="adj" fmla="val 16667"/>
            </a:avLst>
          </a:prstGeom>
          <a:solidFill>
            <a:srgbClr val="DD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80087617" name="Rounded Rectangle 22"/>
          <p:cNvSpPr/>
          <p:nvPr/>
        </p:nvSpPr>
        <p:spPr bwMode="auto">
          <a:xfrm>
            <a:off x="7680960" y="3712464"/>
            <a:ext cx="2926080" cy="237744"/>
          </a:xfrm>
          <a:prstGeom prst="roundRect">
            <a:avLst>
              <a:gd name="adj" fmla="val 16667"/>
            </a:avLst>
          </a:prstGeom>
          <a:solidFill>
            <a:srgbClr val="1E9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87072615" name="TextBox 23"/>
          <p:cNvSpPr txBox="1"/>
          <p:nvPr/>
        </p:nvSpPr>
        <p:spPr bwMode="auto">
          <a:xfrm>
            <a:off x="10698480" y="3602735"/>
            <a:ext cx="100584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defRPr/>
            </a:pPr>
            <a:r>
              <a:rPr sz="1100" b="1">
                <a:solidFill>
                  <a:srgbClr val="1E9E5A"/>
                </a:solidFill>
                <a:latin typeface="Calibri"/>
              </a:rPr>
              <a:t>100%  Done</a:t>
            </a:r>
            <a:endParaRPr/>
          </a:p>
        </p:txBody>
      </p:sp>
      <p:sp>
        <p:nvSpPr>
          <p:cNvPr id="1049521874" name="TextBox 24"/>
          <p:cNvSpPr txBox="1"/>
          <p:nvPr/>
        </p:nvSpPr>
        <p:spPr bwMode="auto">
          <a:xfrm>
            <a:off x="548640" y="4169664"/>
            <a:ext cx="694944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defRPr/>
            </a:pPr>
            <a:r>
              <a:rPr sz="1300" b="0">
                <a:solidFill>
                  <a:srgbClr val="0F1F3D"/>
                </a:solidFill>
                <a:latin typeface="Calibri"/>
              </a:rPr>
              <a:t>Frontend — all pages built; integration testing against live API in progress</a:t>
            </a:r>
            <a:endParaRPr/>
          </a:p>
        </p:txBody>
      </p:sp>
      <p:sp>
        <p:nvSpPr>
          <p:cNvPr id="766648920" name="Rounded Rectangle 25"/>
          <p:cNvSpPr/>
          <p:nvPr/>
        </p:nvSpPr>
        <p:spPr bwMode="auto">
          <a:xfrm>
            <a:off x="7680960" y="4279392"/>
            <a:ext cx="2926080" cy="237744"/>
          </a:xfrm>
          <a:prstGeom prst="roundRect">
            <a:avLst>
              <a:gd name="adj" fmla="val 16667"/>
            </a:avLst>
          </a:prstGeom>
          <a:solidFill>
            <a:srgbClr val="DD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71828495" name="Rounded Rectangle 26"/>
          <p:cNvSpPr/>
          <p:nvPr/>
        </p:nvSpPr>
        <p:spPr bwMode="auto">
          <a:xfrm>
            <a:off x="7680960" y="4279392"/>
            <a:ext cx="2194560" cy="237744"/>
          </a:xfrm>
          <a:prstGeom prst="roundRect">
            <a:avLst>
              <a:gd name="adj" fmla="val 16667"/>
            </a:avLst>
          </a:prstGeom>
          <a:solidFill>
            <a:srgbClr val="D9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35152657" name="TextBox 27"/>
          <p:cNvSpPr txBox="1"/>
          <p:nvPr/>
        </p:nvSpPr>
        <p:spPr bwMode="auto">
          <a:xfrm>
            <a:off x="10698480" y="4169664"/>
            <a:ext cx="100584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defRPr/>
            </a:pPr>
            <a:r>
              <a:rPr sz="1100" b="1">
                <a:solidFill>
                  <a:srgbClr val="D97A00"/>
                </a:solidFill>
                <a:latin typeface="Calibri"/>
              </a:rPr>
              <a:t>75%  In progress</a:t>
            </a:r>
            <a:endParaRPr/>
          </a:p>
        </p:txBody>
      </p:sp>
      <p:sp>
        <p:nvSpPr>
          <p:cNvPr id="1672913537" name="TextBox 28"/>
          <p:cNvSpPr txBox="1"/>
          <p:nvPr/>
        </p:nvSpPr>
        <p:spPr bwMode="auto">
          <a:xfrm>
            <a:off x="548640" y="4736592"/>
            <a:ext cx="694944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defRPr/>
            </a:pPr>
            <a:r>
              <a:rPr sz="1300" b="0">
                <a:solidFill>
                  <a:srgbClr val="0F1F3D"/>
                </a:solidFill>
                <a:latin typeface="Calibri"/>
              </a:rPr>
              <a:t>Polygon Amoy deployment — RPC &amp; wallet keystore configured; deploy + Polygonscan verify pending</a:t>
            </a:r>
            <a:endParaRPr/>
          </a:p>
        </p:txBody>
      </p:sp>
      <p:sp>
        <p:nvSpPr>
          <p:cNvPr id="696453845" name="Rounded Rectangle 29"/>
          <p:cNvSpPr/>
          <p:nvPr/>
        </p:nvSpPr>
        <p:spPr bwMode="auto">
          <a:xfrm>
            <a:off x="7680960" y="4846320"/>
            <a:ext cx="2926080" cy="237744"/>
          </a:xfrm>
          <a:prstGeom prst="roundRect">
            <a:avLst>
              <a:gd name="adj" fmla="val 16667"/>
            </a:avLst>
          </a:prstGeom>
          <a:solidFill>
            <a:srgbClr val="DD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33481159" name="Rounded Rectangle 30"/>
          <p:cNvSpPr/>
          <p:nvPr/>
        </p:nvSpPr>
        <p:spPr bwMode="auto">
          <a:xfrm>
            <a:off x="7680960" y="4846320"/>
            <a:ext cx="1170432" cy="237744"/>
          </a:xfrm>
          <a:prstGeom prst="roundRect">
            <a:avLst>
              <a:gd name="adj" fmla="val 16667"/>
            </a:avLst>
          </a:prstGeom>
          <a:solidFill>
            <a:srgbClr val="D9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1983109" name="TextBox 31"/>
          <p:cNvSpPr txBox="1"/>
          <p:nvPr/>
        </p:nvSpPr>
        <p:spPr bwMode="auto">
          <a:xfrm>
            <a:off x="10698480" y="4736592"/>
            <a:ext cx="100584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defRPr/>
            </a:pPr>
            <a:r>
              <a:rPr sz="1100" b="1">
                <a:solidFill>
                  <a:srgbClr val="D97A00"/>
                </a:solidFill>
                <a:latin typeface="Calibri"/>
              </a:rPr>
              <a:t>40%  Next</a:t>
            </a:r>
            <a:endParaRPr/>
          </a:p>
        </p:txBody>
      </p:sp>
      <p:sp>
        <p:nvSpPr>
          <p:cNvPr id="1220545601" name="TextBox 32"/>
          <p:cNvSpPr txBox="1"/>
          <p:nvPr/>
        </p:nvSpPr>
        <p:spPr bwMode="auto">
          <a:xfrm>
            <a:off x="548640" y="5303520"/>
            <a:ext cx="694944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defRPr/>
            </a:pPr>
            <a:r>
              <a:rPr sz="1300" b="0">
                <a:solidFill>
                  <a:srgbClr val="0F1F3D"/>
                </a:solidFill>
                <a:latin typeface="Calibri"/>
              </a:rPr>
              <a:t>AWS deployment — RDS, ECS/EC2, S3 + CloudFront, Secrets Manager</a:t>
            </a:r>
            <a:endParaRPr/>
          </a:p>
        </p:txBody>
      </p:sp>
      <p:sp>
        <p:nvSpPr>
          <p:cNvPr id="1128676353" name="Rounded Rectangle 33"/>
          <p:cNvSpPr/>
          <p:nvPr/>
        </p:nvSpPr>
        <p:spPr bwMode="auto">
          <a:xfrm>
            <a:off x="7680960" y="5413248"/>
            <a:ext cx="2926080" cy="237744"/>
          </a:xfrm>
          <a:prstGeom prst="roundRect">
            <a:avLst>
              <a:gd name="adj" fmla="val 16667"/>
            </a:avLst>
          </a:prstGeom>
          <a:solidFill>
            <a:srgbClr val="DD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7951155" name="TextBox 34"/>
          <p:cNvSpPr txBox="1"/>
          <p:nvPr/>
        </p:nvSpPr>
        <p:spPr bwMode="auto">
          <a:xfrm>
            <a:off x="10698480" y="5303520"/>
            <a:ext cx="100584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defRPr/>
            </a:pPr>
            <a:r>
              <a:rPr sz="1100" b="1">
                <a:solidFill>
                  <a:srgbClr val="555F70"/>
                </a:solidFill>
                <a:latin typeface="Calibri"/>
              </a:rPr>
              <a:t>Planned</a:t>
            </a:r>
            <a:endParaRPr/>
          </a:p>
        </p:txBody>
      </p:sp>
      <p:sp>
        <p:nvSpPr>
          <p:cNvPr id="476536672" name="TextBox 35"/>
          <p:cNvSpPr txBox="1"/>
          <p:nvPr/>
        </p:nvSpPr>
        <p:spPr bwMode="auto">
          <a:xfrm>
            <a:off x="548640" y="5943600"/>
            <a:ext cx="1106424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/>
            </a:pPr>
            <a:r>
              <a:rPr sz="1300" b="1">
                <a:solidFill>
                  <a:srgbClr val="0F1F3D"/>
                </a:solidFill>
                <a:latin typeface="Calibri"/>
              </a:rPr>
              <a:t>Remaining work: frontend integration pass → Polygon Amoy deployment &amp; contract verification → AWS provisioning and go-live.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7279907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0F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0086655" name="Rectangle 2"/>
          <p:cNvSpPr/>
          <p:nvPr/>
        </p:nvSpPr>
        <p:spPr bwMode="auto">
          <a:xfrm>
            <a:off x="0" y="3566160"/>
            <a:ext cx="12191695" cy="73152"/>
          </a:xfrm>
          <a:prstGeom prst="rect">
            <a:avLst/>
          </a:prstGeom>
          <a:solidFill>
            <a:srgbClr val="7B3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09817752" name="TextBox 3"/>
          <p:cNvSpPr txBox="1"/>
          <p:nvPr/>
        </p:nvSpPr>
        <p:spPr bwMode="auto">
          <a:xfrm>
            <a:off x="731520" y="2194560"/>
            <a:ext cx="1069848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/>
            </a:pPr>
            <a:r>
              <a:rPr sz="4400" b="1">
                <a:solidFill>
                  <a:srgbClr val="FFFFFF"/>
                </a:solidFill>
                <a:latin typeface="Calibri"/>
              </a:rPr>
              <a:t>Thank you</a:t>
            </a:r>
            <a:endParaRPr/>
          </a:p>
        </p:txBody>
      </p:sp>
      <p:sp>
        <p:nvSpPr>
          <p:cNvPr id="1697740955" name="TextBox 4"/>
          <p:cNvSpPr txBox="1"/>
          <p:nvPr/>
        </p:nvSpPr>
        <p:spPr bwMode="auto">
          <a:xfrm>
            <a:off x="731520" y="3840480"/>
            <a:ext cx="1069848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/>
            </a:pPr>
            <a:r>
              <a:rPr sz="2200" b="0">
                <a:solidFill>
                  <a:srgbClr val="C9B8F5"/>
                </a:solidFill>
                <a:latin typeface="Calibri"/>
              </a:rPr>
              <a:t>Questions?</a:t>
            </a:r>
            <a:endParaRPr/>
          </a:p>
        </p:txBody>
      </p:sp>
      <p:sp>
        <p:nvSpPr>
          <p:cNvPr id="1470333445" name="TextBox 5"/>
          <p:cNvSpPr txBox="1"/>
          <p:nvPr/>
        </p:nvSpPr>
        <p:spPr bwMode="auto">
          <a:xfrm>
            <a:off x="731520" y="4754880"/>
            <a:ext cx="1069848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/>
            </a:pPr>
            <a:r>
              <a:rPr sz="1300" b="0">
                <a:solidFill>
                  <a:srgbClr val="B0B8C8"/>
                </a:solidFill>
                <a:latin typeface="Calibri"/>
              </a:rPr>
              <a:t>References: Nakamoto (2008) · Buterin (2014) · OpenZeppelin, Hardhat, Polygon, ethers.js, NestJS, Prisma documentation · MIT Media Lab, Blockcerts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16</Slides>
  <Notes>16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2</cp:revision>
  <dcterms:created xsi:type="dcterms:W3CDTF">2013-01-27T09:14:16Z</dcterms:created>
  <dcterms:modified xsi:type="dcterms:W3CDTF">2026-09-22T18:23:40Z</dcterms:modified>
  <cp:category/>
</cp:coreProperties>
</file>